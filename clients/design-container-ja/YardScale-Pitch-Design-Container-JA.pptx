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warmly. Thank them for the time. Frame: I did not come to show you a mock-up — I built the thing. Then move straight to slide 2 rather than talking about YardScale.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these. Ask after each one whether that matches their experience. The third point — owning the audience — is the one that usually lands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short. It is a bridge, not an argument. The line at the bottom is the pivot into the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to slow down and say plainly: this is not a pitch for work I might do. It is done. That is the whole reason they should say yes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live site on a phone here rather than talking over the screenshot. Let them scroll it themselves — that does more than anything you can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prices are placeholders and that you need their real ones. This is the single biggest thing you need from them in week one — say so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them the printed guide here if you have one. Physical beats a slide. Point out that it is genuinely useful even to someone who never buys from them — that is what makes it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with your hand. Pause on step three. Ask them what happens today to someone who is eight months out — the honest answer is nothing, and they will say so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the clock is mostly on them, in a friendly way. Ask directly: can you get me the confirmed prices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number plainly and then stop talking. Do not justify it. If they ask why it is low, the honest answer is the founding-client trade — testimonial, portfolio, one referral.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the decision, not for another meeting. If they hesitate, the fallback ask is small: give me your confirmed prices this week and I will put them in, then you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313"/>
        </a:solidFill>
      </p:bgPr>
    </p:bg>
    <p:spTree>
      <p:nvGrpSpPr>
        <p:cNvPr id="1" name=""/>
        <p:cNvGrpSpPr/>
        <p:nvPr/>
      </p:nvGrpSpPr>
      <p:grpSpPr>
        <a:xfrm>
          <a:off x="0" y="0"/>
          <a:ext cx="0" cy="0"/>
          <a:chOff x="0" y="0"/>
          <a:chExt cx="0" cy="0"/>
        </a:xfrm>
      </p:grpSpPr>
      <p:pic>
        <p:nvPicPr>
          <p:cNvPr id="2" name="Image 0" descr="/home/user/YardScale-Digital/clients/design-container-ja/deck-assets/deck-hero-tall.png">    </p:cNvPr>
          <p:cNvPicPr>
            <a:picLocks noChangeAspect="1"/>
          </p:cNvPicPr>
          <p:nvPr/>
        </p:nvPicPr>
        <p:blipFill>
          <a:blip r:embed="rId1"/>
          <a:stretch>
            <a:fillRect/>
          </a:stretch>
        </p:blipFill>
        <p:spPr>
          <a:xfrm>
            <a:off x="6263640" y="0"/>
            <a:ext cx="5928055" cy="6858000"/>
          </a:xfrm>
          <a:prstGeom prst="rect">
            <a:avLst/>
          </a:prstGeom>
        </p:spPr>
      </p:pic>
      <p:sp>
        <p:nvSpPr>
          <p:cNvPr id="3" name="Shape 0"/>
          <p:cNvSpPr/>
          <p:nvPr/>
        </p:nvSpPr>
        <p:spPr>
          <a:xfrm>
            <a:off x="6263640" y="0"/>
            <a:ext cx="5928055" cy="6858000"/>
          </a:xfrm>
          <a:prstGeom prst="rect">
            <a:avLst/>
          </a:prstGeom>
          <a:solidFill>
            <a:srgbClr val="131313">
              <a:alpha val="58000"/>
            </a:srgbClr>
          </a:solidFill>
          <a:ln/>
        </p:spPr>
      </p:sp>
      <p:sp>
        <p:nvSpPr>
          <p:cNvPr id="4" name="Shape 1"/>
          <p:cNvSpPr/>
          <p:nvPr/>
        </p:nvSpPr>
        <p:spPr>
          <a:xfrm>
            <a:off x="777240" y="672084"/>
            <a:ext cx="237744" cy="105156"/>
          </a:xfrm>
          <a:prstGeom prst="parallelogram">
            <a:avLst/>
          </a:prstGeom>
          <a:solidFill>
            <a:srgbClr val="C3FC0F"/>
          </a:solidFill>
          <a:ln/>
        </p:spPr>
      </p:sp>
      <p:sp>
        <p:nvSpPr>
          <p:cNvPr id="5" name="Text 2"/>
          <p:cNvSpPr txBox="1"/>
          <p:nvPr/>
        </p:nvSpPr>
        <p:spPr>
          <a:xfrm>
            <a:off x="0" y="603504"/>
            <a:ext cx="7315200" cy="256032"/>
          </a:xfrm>
          <a:prstGeom prst="rect">
            <a:avLst/>
          </a:prstGeom>
          <a:noFill/>
          <a:ln/>
        </p:spPr>
        <p:txBody>
          <a:bodyPr wrap="square" lIns="0" tIns="0" rIns="0" bIns="0" rtlCol="0" anchor="ctr"/>
          <a:lstStyle/>
          <a:p>
            <a:pPr algn="l" indent="0" marL="0">
              <a:buNone/>
            </a:pPr>
            <a:r>
              <a:rPr lang="en-US" sz="1000" b="1" spc="260" kern="0" dirty="0">
                <a:solidFill>
                  <a:srgbClr val="8F8F86"/>
                </a:solidFill>
                <a:latin typeface="Arial" pitchFamily="34" charset="0"/>
                <a:ea typeface="Arial" pitchFamily="34" charset="-122"/>
                <a:cs typeface="Arial" pitchFamily="34" charset="-120"/>
              </a:rPr>
              <a:t>PROPOSAL · 30 AUGUST 2026</a:t>
            </a:r>
            <a:endParaRPr lang="en-US" sz="1000" dirty="0"/>
          </a:p>
        </p:txBody>
      </p:sp>
      <p:sp>
        <p:nvSpPr>
          <p:cNvPr id="6" name="Text 3"/>
          <p:cNvSpPr txBox="1"/>
          <p:nvPr/>
        </p:nvSpPr>
        <p:spPr>
          <a:xfrm>
            <a:off x="777240" y="1417320"/>
            <a:ext cx="5394960" cy="3017520"/>
          </a:xfrm>
          <a:prstGeom prst="rect">
            <a:avLst/>
          </a:prstGeom>
          <a:noFill/>
          <a:ln/>
        </p:spPr>
        <p:txBody>
          <a:bodyPr wrap="square" lIns="0" tIns="0" rIns="0" bIns="0" rtlCol="0" anchor="ctr"/>
          <a:lstStyle/>
          <a:p>
            <a:pPr indent="0" marL="0">
              <a:lnSpc>
                <a:spcPct val="94000"/>
              </a:lnSpc>
              <a:buNone/>
            </a:pPr>
            <a:r>
              <a:rPr lang="en-US" sz="3100" b="1" spc="-60" kern="0" dirty="0">
                <a:solidFill>
                  <a:srgbClr val="F9F8F4"/>
                </a:solidFill>
                <a:latin typeface="Arial" pitchFamily="34" charset="0"/>
                <a:ea typeface="Arial" pitchFamily="34" charset="-122"/>
                <a:cs typeface="Arial" pitchFamily="34" charset="-120"/>
              </a:rPr>
              <a:t>A WEBSITE THAT
SELLS CONTAINERS
</a:t>
            </a:r>
            <a:pPr indent="0" marL="0">
              <a:lnSpc>
                <a:spcPct val="94000"/>
              </a:lnSpc>
              <a:buNone/>
            </a:pPr>
            <a:r>
              <a:rPr lang="en-US" sz="3100" b="1" spc="-60" kern="0" dirty="0">
                <a:solidFill>
                  <a:srgbClr val="C3FC0F"/>
                </a:solidFill>
                <a:latin typeface="Arial" pitchFamily="34" charset="0"/>
                <a:ea typeface="Arial" pitchFamily="34" charset="-122"/>
                <a:cs typeface="Arial" pitchFamily="34" charset="-120"/>
              </a:rPr>
              <a:t>WHILE YOU SLEEP.</a:t>
            </a:r>
            <a:endParaRPr lang="en-US" sz="3100" dirty="0"/>
          </a:p>
        </p:txBody>
      </p:sp>
      <p:sp>
        <p:nvSpPr>
          <p:cNvPr id="7" name="Shape 4"/>
          <p:cNvSpPr/>
          <p:nvPr/>
        </p:nvSpPr>
        <p:spPr>
          <a:xfrm>
            <a:off x="777240" y="4160520"/>
            <a:ext cx="1371600" cy="41148"/>
          </a:xfrm>
          <a:prstGeom prst="rect">
            <a:avLst/>
          </a:prstGeom>
          <a:solidFill>
            <a:srgbClr val="C3FC0F"/>
          </a:solidFill>
          <a:ln/>
        </p:spPr>
      </p:sp>
      <p:sp>
        <p:nvSpPr>
          <p:cNvPr id="8" name="Text 5"/>
          <p:cNvSpPr txBox="1"/>
          <p:nvPr/>
        </p:nvSpPr>
        <p:spPr>
          <a:xfrm>
            <a:off x="777240" y="4434840"/>
            <a:ext cx="5212080" cy="1143000"/>
          </a:xfrm>
          <a:prstGeom prst="rect">
            <a:avLst/>
          </a:prstGeom>
          <a:noFill/>
          <a:ln/>
        </p:spPr>
        <p:txBody>
          <a:bodyPr wrap="square" lIns="0" tIns="0" rIns="0" bIns="0" rtlCol="0" anchor="ctr"/>
          <a:lstStyle/>
          <a:p>
            <a:pPr indent="0" marL="0">
              <a:lnSpc>
                <a:spcPct val="125000"/>
              </a:lnSpc>
              <a:buNone/>
            </a:pPr>
            <a:r>
              <a:rPr lang="en-US" sz="1450" dirty="0">
                <a:solidFill>
                  <a:srgbClr val="B6B6AD"/>
                </a:solidFill>
                <a:latin typeface="Calibri" pitchFamily="34" charset="0"/>
                <a:ea typeface="Calibri" pitchFamily="34" charset="-122"/>
                <a:cs typeface="Calibri" pitchFamily="34" charset="-120"/>
              </a:rPr>
              <a:t>Prepared for Design Container JA — the website, the buyer’s guide that captures leads, and the system that delivers it.</a:t>
            </a:r>
            <a:endParaRPr lang="en-US" sz="1450" dirty="0"/>
          </a:p>
        </p:txBody>
      </p:sp>
      <p:sp>
        <p:nvSpPr>
          <p:cNvPr id="9" name="Text 6"/>
          <p:cNvSpPr txBox="1"/>
          <p:nvPr/>
        </p:nvSpPr>
        <p:spPr>
          <a:xfrm>
            <a:off x="777240" y="5806440"/>
            <a:ext cx="5303520" cy="640080"/>
          </a:xfrm>
          <a:prstGeom prst="rect">
            <a:avLst/>
          </a:prstGeom>
          <a:noFill/>
          <a:ln/>
        </p:spPr>
        <p:txBody>
          <a:bodyPr wrap="square" lIns="0" tIns="0" rIns="0" bIns="0" rtlCol="0" anchor="ctr"/>
          <a:lstStyle/>
          <a:p>
            <a:pPr indent="0" marL="0">
              <a:buNone/>
            </a:pPr>
            <a:r>
              <a:rPr lang="en-US" sz="2200" b="1" dirty="0">
                <a:solidFill>
                  <a:srgbClr val="F9F8F4"/>
                </a:solidFill>
                <a:latin typeface="Arial" pitchFamily="34" charset="0"/>
                <a:ea typeface="Arial" pitchFamily="34" charset="-122"/>
                <a:cs typeface="Arial" pitchFamily="34" charset="-120"/>
              </a:rPr>
              <a:t>J$100,000</a:t>
            </a:r>
            <a:pPr indent="0" marL="0">
              <a:buNone/>
            </a:pPr>
            <a:r>
              <a:rPr lang="en-US" sz="1050" spc="200" kern="0" dirty="0">
                <a:solidFill>
                  <a:srgbClr val="8F8F86"/>
                </a:solidFill>
                <a:latin typeface="Arial" pitchFamily="34" charset="0"/>
                <a:ea typeface="Arial" pitchFamily="34" charset="-122"/>
                <a:cs typeface="Arial" pitchFamily="34" charset="-120"/>
              </a:rPr>
              <a:t>  FIXED   ·   </a:t>
            </a:r>
            <a:pPr indent="0" marL="0">
              <a:buNone/>
            </a:pPr>
            <a:r>
              <a:rPr lang="en-US" sz="2200" b="1" dirty="0">
                <a:solidFill>
                  <a:srgbClr val="F9F8F4"/>
                </a:solidFill>
                <a:latin typeface="Arial" pitchFamily="34" charset="0"/>
                <a:ea typeface="Arial" pitchFamily="34" charset="-122"/>
                <a:cs typeface="Arial" pitchFamily="34" charset="-120"/>
              </a:rPr>
              <a:t>3 WEEKS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8F4"/>
        </a:solidFill>
      </p:bgPr>
    </p:bg>
    <p:spTree>
      <p:nvGrpSpPr>
        <p:cNvPr id="1" name=""/>
        <p:cNvGrpSpPr/>
        <p:nvPr/>
      </p:nvGrpSpPr>
      <p:grpSpPr>
        <a:xfrm>
          <a:off x="0" y="0"/>
          <a:ext cx="0" cy="0"/>
          <a:chOff x="0" y="0"/>
          <a:chExt cx="0" cy="0"/>
        </a:xfrm>
      </p:grpSpPr>
      <p:sp>
        <p:nvSpPr>
          <p:cNvPr id="2" name="Shape 0"/>
          <p:cNvSpPr/>
          <p:nvPr/>
        </p:nvSpPr>
        <p:spPr>
          <a:xfrm>
            <a:off x="777240" y="635508"/>
            <a:ext cx="237744" cy="105156"/>
          </a:xfrm>
          <a:prstGeom prst="parallelogram">
            <a:avLst/>
          </a:prstGeom>
          <a:solidFill>
            <a:srgbClr val="C3FC0F"/>
          </a:solidFill>
          <a:ln/>
        </p:spPr>
      </p:sp>
      <p:sp>
        <p:nvSpPr>
          <p:cNvPr id="3" name="Text 1"/>
          <p:cNvSpPr txBox="1"/>
          <p:nvPr/>
        </p:nvSpPr>
        <p:spPr>
          <a:xfrm>
            <a:off x="0" y="566928"/>
            <a:ext cx="7315200" cy="256032"/>
          </a:xfrm>
          <a:prstGeom prst="rect">
            <a:avLst/>
          </a:prstGeom>
          <a:noFill/>
          <a:ln/>
        </p:spPr>
        <p:txBody>
          <a:bodyPr wrap="square" lIns="0" tIns="0" rIns="0" bIns="0" rtlCol="0" anchor="ctr"/>
          <a:lstStyle/>
          <a:p>
            <a:pPr algn="l" indent="0" marL="0">
              <a:buNone/>
            </a:pPr>
            <a:r>
              <a:rPr lang="en-US" sz="1000" b="1" spc="260" kern="0" dirty="0">
                <a:solidFill>
                  <a:srgbClr val="6B6B62"/>
                </a:solidFill>
                <a:latin typeface="Arial" pitchFamily="34" charset="0"/>
                <a:ea typeface="Arial" pitchFamily="34" charset="-122"/>
                <a:cs typeface="Arial" pitchFamily="34" charset="-120"/>
              </a:rPr>
              <a:t>WHERE YOU ARE NOW</a:t>
            </a:r>
            <a:endParaRPr lang="en-US" sz="1000" dirty="0"/>
          </a:p>
        </p:txBody>
      </p:sp>
      <p:sp>
        <p:nvSpPr>
          <p:cNvPr id="4" name="Text 2"/>
          <p:cNvSpPr txBox="1"/>
          <p:nvPr/>
        </p:nvSpPr>
        <p:spPr>
          <a:xfrm>
            <a:off x="777240" y="1051560"/>
            <a:ext cx="7863840" cy="1188720"/>
          </a:xfrm>
          <a:prstGeom prst="rect">
            <a:avLst/>
          </a:prstGeom>
          <a:noFill/>
          <a:ln/>
        </p:spPr>
        <p:txBody>
          <a:bodyPr wrap="square" lIns="0" tIns="0" rIns="0" bIns="0" rtlCol="0" anchor="ctr"/>
          <a:lstStyle/>
          <a:p>
            <a:pPr indent="0" marL="0">
              <a:lnSpc>
                <a:spcPct val="95000"/>
              </a:lnSpc>
              <a:buNone/>
            </a:pPr>
            <a:r>
              <a:rPr lang="en-US" sz="3400" b="1" spc="-40" kern="0" dirty="0">
                <a:solidFill>
                  <a:srgbClr val="131313"/>
                </a:solidFill>
                <a:latin typeface="Arial" pitchFamily="34" charset="0"/>
                <a:ea typeface="Arial" pitchFamily="34" charset="-122"/>
                <a:cs typeface="Arial" pitchFamily="34" charset="-120"/>
              </a:rPr>
              <a:t>THE PROBLEM IS NOT</a:t>
            </a:r>
            <a:endParaRPr lang="en-US" sz="3400" dirty="0"/>
          </a:p>
          <a:p>
            <a:pPr indent="0" marL="0">
              <a:lnSpc>
                <a:spcPct val="95000"/>
              </a:lnSpc>
              <a:buNone/>
            </a:pPr>
            <a:r>
              <a:rPr lang="en-US" sz="3400" b="1" spc="-40" kern="0" dirty="0">
                <a:solidFill>
                  <a:srgbClr val="131313"/>
                </a:solidFill>
                <a:latin typeface="Arial" pitchFamily="34" charset="0"/>
                <a:ea typeface="Arial" pitchFamily="34" charset="-122"/>
                <a:cs typeface="Arial" pitchFamily="34" charset="-120"/>
              </a:rPr>
              <a:t>DEMAND. IT IS PROOF.</a:t>
            </a:r>
            <a:endParaRPr lang="en-US" sz="3400" dirty="0"/>
          </a:p>
        </p:txBody>
      </p:sp>
      <p:sp>
        <p:nvSpPr>
          <p:cNvPr id="5" name="Shape 3"/>
          <p:cNvSpPr/>
          <p:nvPr/>
        </p:nvSpPr>
        <p:spPr>
          <a:xfrm>
            <a:off x="777240" y="2487168"/>
            <a:ext cx="420624" cy="420624"/>
          </a:xfrm>
          <a:prstGeom prst="ellipse">
            <a:avLst/>
          </a:prstGeom>
          <a:solidFill>
            <a:srgbClr val="131313"/>
          </a:solidFill>
          <a:ln/>
        </p:spPr>
      </p:sp>
      <p:sp>
        <p:nvSpPr>
          <p:cNvPr id="6" name="Text 4"/>
          <p:cNvSpPr txBox="1"/>
          <p:nvPr/>
        </p:nvSpPr>
        <p:spPr>
          <a:xfrm>
            <a:off x="777240" y="2487168"/>
            <a:ext cx="420624" cy="420624"/>
          </a:xfrm>
          <a:prstGeom prst="rect">
            <a:avLst/>
          </a:prstGeom>
          <a:noFill/>
          <a:ln/>
        </p:spPr>
        <p:txBody>
          <a:bodyPr wrap="square" lIns="0" tIns="0" rIns="0" bIns="0" rtlCol="0" anchor="ctr"/>
          <a:lstStyle/>
          <a:p>
            <a:pPr algn="ctr" indent="0" marL="0">
              <a:buNone/>
            </a:pPr>
            <a:r>
              <a:rPr lang="en-US" sz="1100" b="1" dirty="0">
                <a:solidFill>
                  <a:srgbClr val="C3FC0F"/>
                </a:solidFill>
                <a:latin typeface="Arial" pitchFamily="34" charset="0"/>
                <a:ea typeface="Arial" pitchFamily="34" charset="-122"/>
                <a:cs typeface="Arial" pitchFamily="34" charset="-120"/>
              </a:rPr>
              <a:t>01</a:t>
            </a:r>
            <a:endParaRPr lang="en-US" sz="1100" dirty="0"/>
          </a:p>
        </p:txBody>
      </p:sp>
      <p:sp>
        <p:nvSpPr>
          <p:cNvPr id="7" name="Text 5"/>
          <p:cNvSpPr txBox="1"/>
          <p:nvPr/>
        </p:nvSpPr>
        <p:spPr>
          <a:xfrm>
            <a:off x="1417320" y="2450592"/>
            <a:ext cx="9966960" cy="310896"/>
          </a:xfrm>
          <a:prstGeom prst="rect">
            <a:avLst/>
          </a:prstGeom>
          <a:noFill/>
          <a:ln/>
        </p:spPr>
        <p:txBody>
          <a:bodyPr wrap="square" lIns="0" tIns="0" rIns="0" bIns="0" rtlCol="0" anchor="ctr"/>
          <a:lstStyle/>
          <a:p>
            <a:pPr indent="0" marL="0">
              <a:buNone/>
            </a:pPr>
            <a:r>
              <a:rPr lang="en-US" sz="1500" b="1" dirty="0">
                <a:solidFill>
                  <a:srgbClr val="131313"/>
                </a:solidFill>
                <a:latin typeface="Arial" pitchFamily="34" charset="0"/>
                <a:ea typeface="Arial" pitchFamily="34" charset="-122"/>
                <a:cs typeface="Arial" pitchFamily="34" charset="-120"/>
              </a:rPr>
              <a:t>Social sells the look. It cannot sell the decision.</a:t>
            </a:r>
            <a:endParaRPr lang="en-US" sz="1500" dirty="0"/>
          </a:p>
        </p:txBody>
      </p:sp>
      <p:sp>
        <p:nvSpPr>
          <p:cNvPr id="8" name="Text 6"/>
          <p:cNvSpPr txBox="1"/>
          <p:nvPr/>
        </p:nvSpPr>
        <p:spPr>
          <a:xfrm>
            <a:off x="1417320" y="2788920"/>
            <a:ext cx="9966960" cy="713232"/>
          </a:xfrm>
          <a:prstGeom prst="rect">
            <a:avLst/>
          </a:prstGeom>
          <a:noFill/>
          <a:ln/>
        </p:spPr>
        <p:txBody>
          <a:bodyPr wrap="square" lIns="0" tIns="0" rIns="0" bIns="0" rtlCol="0" anchor="ctr"/>
          <a:lstStyle/>
          <a:p>
            <a:pPr indent="0" marL="0">
              <a:lnSpc>
                <a:spcPct val="120000"/>
              </a:lnSpc>
              <a:buNone/>
            </a:pPr>
            <a:r>
              <a:rPr lang="en-US" sz="1250" dirty="0">
                <a:solidFill>
                  <a:srgbClr val="6B6B62"/>
                </a:solidFill>
                <a:latin typeface="Calibri" pitchFamily="34" charset="0"/>
                <a:ea typeface="Calibri" pitchFamily="34" charset="-122"/>
                <a:cs typeface="Calibri" pitchFamily="34" charset="-120"/>
              </a:rPr>
              <a:t>A buyer about to spend eight million dollars needs specifications, a price range and proof the structure is engineered. None of that fits in a caption — so the conversation stalls at “DM for price”.</a:t>
            </a:r>
            <a:endParaRPr lang="en-US" sz="1250" dirty="0"/>
          </a:p>
        </p:txBody>
      </p:sp>
      <p:sp>
        <p:nvSpPr>
          <p:cNvPr id="9" name="Shape 7"/>
          <p:cNvSpPr/>
          <p:nvPr/>
        </p:nvSpPr>
        <p:spPr>
          <a:xfrm>
            <a:off x="777240" y="3803904"/>
            <a:ext cx="420624" cy="420624"/>
          </a:xfrm>
          <a:prstGeom prst="ellipse">
            <a:avLst/>
          </a:prstGeom>
          <a:solidFill>
            <a:srgbClr val="131313"/>
          </a:solidFill>
          <a:ln/>
        </p:spPr>
      </p:sp>
      <p:sp>
        <p:nvSpPr>
          <p:cNvPr id="10" name="Text 8"/>
          <p:cNvSpPr txBox="1"/>
          <p:nvPr/>
        </p:nvSpPr>
        <p:spPr>
          <a:xfrm>
            <a:off x="777240" y="3803904"/>
            <a:ext cx="420624" cy="420624"/>
          </a:xfrm>
          <a:prstGeom prst="rect">
            <a:avLst/>
          </a:prstGeom>
          <a:noFill/>
          <a:ln/>
        </p:spPr>
        <p:txBody>
          <a:bodyPr wrap="square" lIns="0" tIns="0" rIns="0" bIns="0" rtlCol="0" anchor="ctr"/>
          <a:lstStyle/>
          <a:p>
            <a:pPr algn="ctr" indent="0" marL="0">
              <a:buNone/>
            </a:pPr>
            <a:r>
              <a:rPr lang="en-US" sz="1100" b="1" dirty="0">
                <a:solidFill>
                  <a:srgbClr val="C3FC0F"/>
                </a:solidFill>
                <a:latin typeface="Arial" pitchFamily="34" charset="0"/>
                <a:ea typeface="Arial" pitchFamily="34" charset="-122"/>
                <a:cs typeface="Arial" pitchFamily="34" charset="-120"/>
              </a:rPr>
              <a:t>02</a:t>
            </a:r>
            <a:endParaRPr lang="en-US" sz="1100" dirty="0"/>
          </a:p>
        </p:txBody>
      </p:sp>
      <p:sp>
        <p:nvSpPr>
          <p:cNvPr id="11" name="Text 9"/>
          <p:cNvSpPr txBox="1"/>
          <p:nvPr/>
        </p:nvSpPr>
        <p:spPr>
          <a:xfrm>
            <a:off x="1417320" y="3767328"/>
            <a:ext cx="9966960" cy="310896"/>
          </a:xfrm>
          <a:prstGeom prst="rect">
            <a:avLst/>
          </a:prstGeom>
          <a:noFill/>
          <a:ln/>
        </p:spPr>
        <p:txBody>
          <a:bodyPr wrap="square" lIns="0" tIns="0" rIns="0" bIns="0" rtlCol="0" anchor="ctr"/>
          <a:lstStyle/>
          <a:p>
            <a:pPr indent="0" marL="0">
              <a:buNone/>
            </a:pPr>
            <a:r>
              <a:rPr lang="en-US" sz="1500" b="1" dirty="0">
                <a:solidFill>
                  <a:srgbClr val="131313"/>
                </a:solidFill>
                <a:latin typeface="Arial" pitchFamily="34" charset="0"/>
                <a:ea typeface="Arial" pitchFamily="34" charset="-122"/>
                <a:cs typeface="Arial" pitchFamily="34" charset="-120"/>
              </a:rPr>
              <a:t>Every enquiry arrives cold, into one inbox.</a:t>
            </a:r>
            <a:endParaRPr lang="en-US" sz="1500" dirty="0"/>
          </a:p>
        </p:txBody>
      </p:sp>
      <p:sp>
        <p:nvSpPr>
          <p:cNvPr id="12" name="Text 10"/>
          <p:cNvSpPr txBox="1"/>
          <p:nvPr/>
        </p:nvSpPr>
        <p:spPr>
          <a:xfrm>
            <a:off x="1417320" y="4105656"/>
            <a:ext cx="9966960" cy="713232"/>
          </a:xfrm>
          <a:prstGeom prst="rect">
            <a:avLst/>
          </a:prstGeom>
          <a:noFill/>
          <a:ln/>
        </p:spPr>
        <p:txBody>
          <a:bodyPr wrap="square" lIns="0" tIns="0" rIns="0" bIns="0" rtlCol="0" anchor="ctr"/>
          <a:lstStyle/>
          <a:p>
            <a:pPr indent="0" marL="0">
              <a:lnSpc>
                <a:spcPct val="120000"/>
              </a:lnSpc>
              <a:buNone/>
            </a:pPr>
            <a:r>
              <a:rPr lang="en-US" sz="1250" dirty="0">
                <a:solidFill>
                  <a:srgbClr val="6B6B62"/>
                </a:solidFill>
                <a:latin typeface="Calibri" pitchFamily="34" charset="0"/>
                <a:ea typeface="Calibri" pitchFamily="34" charset="-122"/>
                <a:cs typeface="Calibri" pitchFamily="34" charset="-120"/>
              </a:rPr>
              <a:t>You answer the same six questions by hand, several times a week, to people who may not own land yet. That is expensive in the one resource you cannot buy more of.</a:t>
            </a:r>
            <a:endParaRPr lang="en-US" sz="1250" dirty="0"/>
          </a:p>
        </p:txBody>
      </p:sp>
      <p:sp>
        <p:nvSpPr>
          <p:cNvPr id="13" name="Shape 11"/>
          <p:cNvSpPr/>
          <p:nvPr/>
        </p:nvSpPr>
        <p:spPr>
          <a:xfrm>
            <a:off x="777240" y="5120640"/>
            <a:ext cx="420624" cy="420624"/>
          </a:xfrm>
          <a:prstGeom prst="ellipse">
            <a:avLst/>
          </a:prstGeom>
          <a:solidFill>
            <a:srgbClr val="131313"/>
          </a:solidFill>
          <a:ln/>
        </p:spPr>
      </p:sp>
      <p:sp>
        <p:nvSpPr>
          <p:cNvPr id="14" name="Text 12"/>
          <p:cNvSpPr txBox="1"/>
          <p:nvPr/>
        </p:nvSpPr>
        <p:spPr>
          <a:xfrm>
            <a:off x="777240" y="5120640"/>
            <a:ext cx="420624" cy="420624"/>
          </a:xfrm>
          <a:prstGeom prst="rect">
            <a:avLst/>
          </a:prstGeom>
          <a:noFill/>
          <a:ln/>
        </p:spPr>
        <p:txBody>
          <a:bodyPr wrap="square" lIns="0" tIns="0" rIns="0" bIns="0" rtlCol="0" anchor="ctr"/>
          <a:lstStyle/>
          <a:p>
            <a:pPr algn="ctr" indent="0" marL="0">
              <a:buNone/>
            </a:pPr>
            <a:r>
              <a:rPr lang="en-US" sz="1100" b="1" dirty="0">
                <a:solidFill>
                  <a:srgbClr val="C3FC0F"/>
                </a:solidFill>
                <a:latin typeface="Arial" pitchFamily="34" charset="0"/>
                <a:ea typeface="Arial" pitchFamily="34" charset="-122"/>
                <a:cs typeface="Arial" pitchFamily="34" charset="-120"/>
              </a:rPr>
              <a:t>03</a:t>
            </a:r>
            <a:endParaRPr lang="en-US" sz="1100" dirty="0"/>
          </a:p>
        </p:txBody>
      </p:sp>
      <p:sp>
        <p:nvSpPr>
          <p:cNvPr id="15" name="Text 13"/>
          <p:cNvSpPr txBox="1"/>
          <p:nvPr/>
        </p:nvSpPr>
        <p:spPr>
          <a:xfrm>
            <a:off x="1417320" y="5084064"/>
            <a:ext cx="9966960" cy="310896"/>
          </a:xfrm>
          <a:prstGeom prst="rect">
            <a:avLst/>
          </a:prstGeom>
          <a:noFill/>
          <a:ln/>
        </p:spPr>
        <p:txBody>
          <a:bodyPr wrap="square" lIns="0" tIns="0" rIns="0" bIns="0" rtlCol="0" anchor="ctr"/>
          <a:lstStyle/>
          <a:p>
            <a:pPr indent="0" marL="0">
              <a:buNone/>
            </a:pPr>
            <a:r>
              <a:rPr lang="en-US" sz="1500" b="1" dirty="0">
                <a:solidFill>
                  <a:srgbClr val="131313"/>
                </a:solidFill>
                <a:latin typeface="Arial" pitchFamily="34" charset="0"/>
                <a:ea typeface="Arial" pitchFamily="34" charset="-122"/>
                <a:cs typeface="Arial" pitchFamily="34" charset="-120"/>
              </a:rPr>
              <a:t>You do not own the audience.</a:t>
            </a:r>
            <a:endParaRPr lang="en-US" sz="1500" dirty="0"/>
          </a:p>
        </p:txBody>
      </p:sp>
      <p:sp>
        <p:nvSpPr>
          <p:cNvPr id="16" name="Text 14"/>
          <p:cNvSpPr txBox="1"/>
          <p:nvPr/>
        </p:nvSpPr>
        <p:spPr>
          <a:xfrm>
            <a:off x="1417320" y="5422392"/>
            <a:ext cx="9966960" cy="713232"/>
          </a:xfrm>
          <a:prstGeom prst="rect">
            <a:avLst/>
          </a:prstGeom>
          <a:noFill/>
          <a:ln/>
        </p:spPr>
        <p:txBody>
          <a:bodyPr wrap="square" lIns="0" tIns="0" rIns="0" bIns="0" rtlCol="0" anchor="ctr"/>
          <a:lstStyle/>
          <a:p>
            <a:pPr indent="0" marL="0">
              <a:lnSpc>
                <a:spcPct val="120000"/>
              </a:lnSpc>
              <a:buNone/>
            </a:pPr>
            <a:r>
              <a:rPr lang="en-US" sz="1250" dirty="0">
                <a:solidFill>
                  <a:srgbClr val="6B6B62"/>
                </a:solidFill>
                <a:latin typeface="Calibri" pitchFamily="34" charset="0"/>
                <a:ea typeface="Calibri" pitchFamily="34" charset="-122"/>
                <a:cs typeface="Calibri" pitchFamily="34" charset="-120"/>
              </a:rPr>
              <a:t>A follower is rented. If the platform changes what it shows, your pipeline changes with it. An email list of people who raised their hand is an asset you keep.</a:t>
            </a:r>
            <a:endParaRPr lang="en-US" sz="1250" dirty="0"/>
          </a:p>
        </p:txBody>
      </p:sp>
      <p:sp>
        <p:nvSpPr>
          <p:cNvPr id="17" name="Text 15"/>
          <p:cNvSpPr txBox="1"/>
          <p:nvPr/>
        </p:nvSpPr>
        <p:spPr>
          <a:xfrm>
            <a:off x="777240" y="6236208"/>
            <a:ext cx="5486400" cy="274320"/>
          </a:xfrm>
          <a:prstGeom prst="rect">
            <a:avLst/>
          </a:prstGeom>
          <a:noFill/>
          <a:ln/>
        </p:spPr>
        <p:txBody>
          <a:bodyPr wrap="square" lIns="0" tIns="0" rIns="0" bIns="0" rtlCol="0" anchor="ctr"/>
          <a:lstStyle/>
          <a:p>
            <a:pPr indent="0" marL="0">
              <a:buNone/>
            </a:pPr>
            <a:r>
              <a:rPr lang="en-US" sz="900" b="1" spc="220" kern="0" dirty="0">
                <a:solidFill>
                  <a:srgbClr val="6B6B62"/>
                </a:solidFill>
                <a:latin typeface="Arial" pitchFamily="34" charset="0"/>
                <a:ea typeface="Arial" pitchFamily="34" charset="-122"/>
                <a:cs typeface="Arial" pitchFamily="34" charset="-120"/>
              </a:rPr>
              <a:t>THE GAP</a:t>
            </a:r>
            <a:endParaRPr lang="en-US" sz="900" dirty="0"/>
          </a:p>
        </p:txBody>
      </p:sp>
      <p:sp>
        <p:nvSpPr>
          <p:cNvPr id="18" name="Text 16"/>
          <p:cNvSpPr txBox="1"/>
          <p:nvPr/>
        </p:nvSpPr>
        <p:spPr>
          <a:xfrm>
            <a:off x="8214055" y="6236208"/>
            <a:ext cx="3200400" cy="274320"/>
          </a:xfrm>
          <a:prstGeom prst="rect">
            <a:avLst/>
          </a:prstGeom>
          <a:noFill/>
          <a:ln/>
        </p:spPr>
        <p:txBody>
          <a:bodyPr wrap="square" lIns="0" tIns="0" rIns="0" bIns="0" rtlCol="0" anchor="ctr"/>
          <a:lstStyle/>
          <a:p>
            <a:pPr algn="r" indent="0" marL="0">
              <a:buNone/>
            </a:pPr>
            <a:r>
              <a:rPr lang="en-US" sz="900" b="1" spc="220" kern="0" dirty="0">
                <a:solidFill>
                  <a:srgbClr val="6B6B62"/>
                </a:solidFill>
                <a:latin typeface="Arial" pitchFamily="34" charset="0"/>
                <a:ea typeface="Arial" pitchFamily="34" charset="-122"/>
                <a:cs typeface="Arial" pitchFamily="34" charset="-120"/>
              </a:rPr>
              <a:t>YARDSCALE DIGITAL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1313"/>
        </a:solidFill>
      </p:bgPr>
    </p:bg>
    <p:spTree>
      <p:nvGrpSpPr>
        <p:cNvPr id="1" name=""/>
        <p:cNvGrpSpPr/>
        <p:nvPr/>
      </p:nvGrpSpPr>
      <p:grpSpPr>
        <a:xfrm>
          <a:off x="0" y="0"/>
          <a:ext cx="0" cy="0"/>
          <a:chOff x="0" y="0"/>
          <a:chExt cx="0" cy="0"/>
        </a:xfrm>
      </p:grpSpPr>
      <p:sp>
        <p:nvSpPr>
          <p:cNvPr id="2" name="Shape 0"/>
          <p:cNvSpPr/>
          <p:nvPr/>
        </p:nvSpPr>
        <p:spPr>
          <a:xfrm>
            <a:off x="777240" y="635508"/>
            <a:ext cx="237744" cy="105156"/>
          </a:xfrm>
          <a:prstGeom prst="parallelogram">
            <a:avLst/>
          </a:prstGeom>
          <a:solidFill>
            <a:srgbClr val="C3FC0F"/>
          </a:solidFill>
          <a:ln/>
        </p:spPr>
      </p:sp>
      <p:sp>
        <p:nvSpPr>
          <p:cNvPr id="3" name="Text 1"/>
          <p:cNvSpPr txBox="1"/>
          <p:nvPr/>
        </p:nvSpPr>
        <p:spPr>
          <a:xfrm>
            <a:off x="1161288" y="566928"/>
            <a:ext cx="7315200" cy="256032"/>
          </a:xfrm>
          <a:prstGeom prst="rect">
            <a:avLst/>
          </a:prstGeom>
          <a:noFill/>
          <a:ln/>
        </p:spPr>
        <p:txBody>
          <a:bodyPr wrap="square" lIns="0" tIns="0" rIns="0" bIns="0" rtlCol="0" anchor="ctr"/>
          <a:lstStyle/>
          <a:p>
            <a:pPr algn="l" indent="0" marL="0">
              <a:buNone/>
            </a:pPr>
            <a:r>
              <a:rPr lang="en-US" sz="1000" b="1" spc="260" kern="0" dirty="0">
                <a:solidFill>
                  <a:srgbClr val="8F8F86"/>
                </a:solidFill>
                <a:latin typeface="Arial" pitchFamily="34" charset="0"/>
                <a:ea typeface="Arial" pitchFamily="34" charset="-122"/>
                <a:cs typeface="Arial" pitchFamily="34" charset="-120"/>
              </a:rPr>
              <a:t>WHAT IT COSTS YOU</a:t>
            </a:r>
            <a:endParaRPr lang="en-US" sz="1000" dirty="0"/>
          </a:p>
        </p:txBody>
      </p:sp>
      <p:sp>
        <p:nvSpPr>
          <p:cNvPr id="4" name="Text 2"/>
          <p:cNvSpPr txBox="1"/>
          <p:nvPr/>
        </p:nvSpPr>
        <p:spPr>
          <a:xfrm>
            <a:off x="777240" y="1051560"/>
            <a:ext cx="10058400" cy="1188720"/>
          </a:xfrm>
          <a:prstGeom prst="rect">
            <a:avLst/>
          </a:prstGeom>
          <a:noFill/>
          <a:ln/>
        </p:spPr>
        <p:txBody>
          <a:bodyPr wrap="square" lIns="0" tIns="0" rIns="0" bIns="0" rtlCol="0" anchor="ctr"/>
          <a:lstStyle/>
          <a:p>
            <a:pPr indent="0" marL="0">
              <a:lnSpc>
                <a:spcPct val="95000"/>
              </a:lnSpc>
              <a:buNone/>
            </a:pPr>
            <a:r>
              <a:rPr lang="en-US" sz="3200" b="1" spc="-40" kern="0" dirty="0">
                <a:solidFill>
                  <a:srgbClr val="F9F8F4"/>
                </a:solidFill>
                <a:latin typeface="Arial" pitchFamily="34" charset="0"/>
                <a:ea typeface="Arial" pitchFamily="34" charset="-122"/>
                <a:cs typeface="Arial" pitchFamily="34" charset="-120"/>
              </a:rPr>
              <a:t>EVERY WEEK WITHOUT IT,</a:t>
            </a:r>
            <a:endParaRPr lang="en-US" sz="3200" dirty="0"/>
          </a:p>
          <a:p>
            <a:pPr indent="0" marL="0">
              <a:lnSpc>
                <a:spcPct val="95000"/>
              </a:lnSpc>
              <a:buNone/>
            </a:pPr>
            <a:r>
              <a:rPr lang="en-US" sz="3200" b="1" spc="-40" kern="0" dirty="0">
                <a:solidFill>
                  <a:srgbClr val="F9F8F4"/>
                </a:solidFill>
                <a:latin typeface="Arial" pitchFamily="34" charset="0"/>
                <a:ea typeface="Arial" pitchFamily="34" charset="-122"/>
                <a:cs typeface="Arial" pitchFamily="34" charset="-120"/>
              </a:rPr>
              <a:t>THE SAME THING HAPPENS.</a:t>
            </a:r>
            <a:endParaRPr lang="en-US" sz="3200" dirty="0"/>
          </a:p>
        </p:txBody>
      </p:sp>
      <p:sp>
        <p:nvSpPr>
          <p:cNvPr id="5" name="Shape 3"/>
          <p:cNvSpPr/>
          <p:nvPr/>
        </p:nvSpPr>
        <p:spPr>
          <a:xfrm>
            <a:off x="777240" y="2697480"/>
            <a:ext cx="3291840" cy="2286000"/>
          </a:xfrm>
          <a:prstGeom prst="rect">
            <a:avLst/>
          </a:prstGeom>
          <a:solidFill>
            <a:srgbClr val="1C1C1A"/>
          </a:solidFill>
          <a:ln w="9525">
            <a:solidFill>
              <a:srgbClr val="2E2E2B"/>
            </a:solidFill>
            <a:prstDash val="solid"/>
          </a:ln>
        </p:spPr>
      </p:sp>
      <p:sp>
        <p:nvSpPr>
          <p:cNvPr id="6" name="Text 4"/>
          <p:cNvSpPr txBox="1"/>
          <p:nvPr/>
        </p:nvSpPr>
        <p:spPr>
          <a:xfrm>
            <a:off x="1097280" y="2926080"/>
            <a:ext cx="2651760" cy="960120"/>
          </a:xfrm>
          <a:prstGeom prst="rect">
            <a:avLst/>
          </a:prstGeom>
          <a:noFill/>
          <a:ln/>
        </p:spPr>
        <p:txBody>
          <a:bodyPr wrap="square" lIns="0" tIns="0" rIns="0" bIns="0" rtlCol="0" anchor="ctr"/>
          <a:lstStyle/>
          <a:p>
            <a:pPr indent="0" marL="0">
              <a:buNone/>
            </a:pPr>
            <a:r>
              <a:rPr lang="en-US" sz="4400" b="1" spc="-140" kern="0" dirty="0">
                <a:solidFill>
                  <a:srgbClr val="C3FC0F"/>
                </a:solidFill>
                <a:latin typeface="Arial" pitchFamily="34" charset="0"/>
                <a:ea typeface="Arial" pitchFamily="34" charset="-122"/>
                <a:cs typeface="Arial" pitchFamily="34" charset="-120"/>
              </a:rPr>
              <a:t>11pm</a:t>
            </a:r>
            <a:endParaRPr lang="en-US" sz="4400" dirty="0"/>
          </a:p>
        </p:txBody>
      </p:sp>
      <p:sp>
        <p:nvSpPr>
          <p:cNvPr id="7" name="Text 5"/>
          <p:cNvSpPr txBox="1"/>
          <p:nvPr/>
        </p:nvSpPr>
        <p:spPr>
          <a:xfrm>
            <a:off x="1097280" y="3931920"/>
            <a:ext cx="2651760" cy="914400"/>
          </a:xfrm>
          <a:prstGeom prst="rect">
            <a:avLst/>
          </a:prstGeom>
          <a:noFill/>
          <a:ln/>
        </p:spPr>
        <p:txBody>
          <a:bodyPr wrap="square" lIns="0" tIns="0" rIns="0" bIns="0" rtlCol="0" anchor="ctr"/>
          <a:lstStyle/>
          <a:p>
            <a:pPr indent="0" marL="0">
              <a:lnSpc>
                <a:spcPct val="120000"/>
              </a:lnSpc>
              <a:buNone/>
            </a:pPr>
            <a:r>
              <a:rPr lang="en-US" sz="1150" dirty="0">
                <a:solidFill>
                  <a:srgbClr val="A9A9A0"/>
                </a:solidFill>
                <a:latin typeface="Calibri" pitchFamily="34" charset="0"/>
                <a:ea typeface="Calibri" pitchFamily="34" charset="-122"/>
                <a:cs typeface="Calibri" pitchFamily="34" charset="-120"/>
              </a:rPr>
              <a:t>When people actually decide about houses — and there is nowhere to send them</a:t>
            </a:r>
            <a:endParaRPr lang="en-US" sz="1150" dirty="0"/>
          </a:p>
        </p:txBody>
      </p:sp>
      <p:sp>
        <p:nvSpPr>
          <p:cNvPr id="8" name="Shape 6"/>
          <p:cNvSpPr/>
          <p:nvPr/>
        </p:nvSpPr>
        <p:spPr>
          <a:xfrm>
            <a:off x="4434840" y="2697480"/>
            <a:ext cx="3291840" cy="2286000"/>
          </a:xfrm>
          <a:prstGeom prst="rect">
            <a:avLst/>
          </a:prstGeom>
          <a:solidFill>
            <a:srgbClr val="1C1C1A"/>
          </a:solidFill>
          <a:ln w="9525">
            <a:solidFill>
              <a:srgbClr val="2E2E2B"/>
            </a:solidFill>
            <a:prstDash val="solid"/>
          </a:ln>
        </p:spPr>
      </p:sp>
      <p:sp>
        <p:nvSpPr>
          <p:cNvPr id="9" name="Text 7"/>
          <p:cNvSpPr txBox="1"/>
          <p:nvPr/>
        </p:nvSpPr>
        <p:spPr>
          <a:xfrm>
            <a:off x="4754880" y="2926080"/>
            <a:ext cx="2651760" cy="960120"/>
          </a:xfrm>
          <a:prstGeom prst="rect">
            <a:avLst/>
          </a:prstGeom>
          <a:noFill/>
          <a:ln/>
        </p:spPr>
        <p:txBody>
          <a:bodyPr wrap="square" lIns="0" tIns="0" rIns="0" bIns="0" rtlCol="0" anchor="ctr"/>
          <a:lstStyle/>
          <a:p>
            <a:pPr indent="0" marL="0">
              <a:buNone/>
            </a:pPr>
            <a:r>
              <a:rPr lang="en-US" sz="4400" b="1" spc="-140" kern="0" dirty="0">
                <a:solidFill>
                  <a:srgbClr val="C3FC0F"/>
                </a:solidFill>
                <a:latin typeface="Arial" pitchFamily="34" charset="0"/>
                <a:ea typeface="Arial" pitchFamily="34" charset="-122"/>
                <a:cs typeface="Arial" pitchFamily="34" charset="-120"/>
              </a:rPr>
              <a:t>6</a:t>
            </a:r>
            <a:endParaRPr lang="en-US" sz="4400" dirty="0"/>
          </a:p>
        </p:txBody>
      </p:sp>
      <p:sp>
        <p:nvSpPr>
          <p:cNvPr id="10" name="Text 8"/>
          <p:cNvSpPr txBox="1"/>
          <p:nvPr/>
        </p:nvSpPr>
        <p:spPr>
          <a:xfrm>
            <a:off x="4754880" y="3931920"/>
            <a:ext cx="2651760" cy="914400"/>
          </a:xfrm>
          <a:prstGeom prst="rect">
            <a:avLst/>
          </a:prstGeom>
          <a:noFill/>
          <a:ln/>
        </p:spPr>
        <p:txBody>
          <a:bodyPr wrap="square" lIns="0" tIns="0" rIns="0" bIns="0" rtlCol="0" anchor="ctr"/>
          <a:lstStyle/>
          <a:p>
            <a:pPr indent="0" marL="0">
              <a:lnSpc>
                <a:spcPct val="120000"/>
              </a:lnSpc>
              <a:buNone/>
            </a:pPr>
            <a:r>
              <a:rPr lang="en-US" sz="1150" dirty="0">
                <a:solidFill>
                  <a:srgbClr val="A9A9A0"/>
                </a:solidFill>
                <a:latin typeface="Calibri" pitchFamily="34" charset="0"/>
                <a:ea typeface="Calibri" pitchFamily="34" charset="-122"/>
                <a:cs typeface="Calibri" pitchFamily="34" charset="-120"/>
              </a:rPr>
              <a:t>Questions answered by hand, over and over, before anyone is qualified</a:t>
            </a:r>
            <a:endParaRPr lang="en-US" sz="1150" dirty="0"/>
          </a:p>
        </p:txBody>
      </p:sp>
      <p:sp>
        <p:nvSpPr>
          <p:cNvPr id="11" name="Shape 9"/>
          <p:cNvSpPr/>
          <p:nvPr/>
        </p:nvSpPr>
        <p:spPr>
          <a:xfrm>
            <a:off x="8092440" y="2697480"/>
            <a:ext cx="3291840" cy="2286000"/>
          </a:xfrm>
          <a:prstGeom prst="rect">
            <a:avLst/>
          </a:prstGeom>
          <a:solidFill>
            <a:srgbClr val="1C1C1A"/>
          </a:solidFill>
          <a:ln w="9525">
            <a:solidFill>
              <a:srgbClr val="2E2E2B"/>
            </a:solidFill>
            <a:prstDash val="solid"/>
          </a:ln>
        </p:spPr>
      </p:sp>
      <p:sp>
        <p:nvSpPr>
          <p:cNvPr id="12" name="Text 10"/>
          <p:cNvSpPr txBox="1"/>
          <p:nvPr/>
        </p:nvSpPr>
        <p:spPr>
          <a:xfrm>
            <a:off x="8412480" y="2926080"/>
            <a:ext cx="2651760" cy="960120"/>
          </a:xfrm>
          <a:prstGeom prst="rect">
            <a:avLst/>
          </a:prstGeom>
          <a:noFill/>
          <a:ln/>
        </p:spPr>
        <p:txBody>
          <a:bodyPr wrap="square" lIns="0" tIns="0" rIns="0" bIns="0" rtlCol="0" anchor="ctr"/>
          <a:lstStyle/>
          <a:p>
            <a:pPr indent="0" marL="0">
              <a:buNone/>
            </a:pPr>
            <a:r>
              <a:rPr lang="en-US" sz="4400" b="1" spc="-140" kern="0" dirty="0">
                <a:solidFill>
                  <a:srgbClr val="C3FC0F"/>
                </a:solidFill>
                <a:latin typeface="Arial" pitchFamily="34" charset="0"/>
                <a:ea typeface="Arial" pitchFamily="34" charset="-122"/>
                <a:cs typeface="Arial" pitchFamily="34" charset="-120"/>
              </a:rPr>
              <a:t>0</a:t>
            </a:r>
            <a:endParaRPr lang="en-US" sz="4400" dirty="0"/>
          </a:p>
        </p:txBody>
      </p:sp>
      <p:sp>
        <p:nvSpPr>
          <p:cNvPr id="13" name="Text 11"/>
          <p:cNvSpPr txBox="1"/>
          <p:nvPr/>
        </p:nvSpPr>
        <p:spPr>
          <a:xfrm>
            <a:off x="8412480" y="3931920"/>
            <a:ext cx="2651760" cy="914400"/>
          </a:xfrm>
          <a:prstGeom prst="rect">
            <a:avLst/>
          </a:prstGeom>
          <a:noFill/>
          <a:ln/>
        </p:spPr>
        <p:txBody>
          <a:bodyPr wrap="square" lIns="0" tIns="0" rIns="0" bIns="0" rtlCol="0" anchor="ctr"/>
          <a:lstStyle/>
          <a:p>
            <a:pPr indent="0" marL="0">
              <a:lnSpc>
                <a:spcPct val="120000"/>
              </a:lnSpc>
              <a:buNone/>
            </a:pPr>
            <a:r>
              <a:rPr lang="en-US" sz="1150" dirty="0">
                <a:solidFill>
                  <a:srgbClr val="A9A9A0"/>
                </a:solidFill>
                <a:latin typeface="Calibri" pitchFamily="34" charset="0"/>
                <a:ea typeface="Calibri" pitchFamily="34" charset="-122"/>
                <a:cs typeface="Calibri" pitchFamily="34" charset="-120"/>
              </a:rPr>
              <a:t>Records kept of the buyer who was eight months out but real</a:t>
            </a:r>
            <a:endParaRPr lang="en-US" sz="1150" dirty="0"/>
          </a:p>
        </p:txBody>
      </p:sp>
      <p:sp>
        <p:nvSpPr>
          <p:cNvPr id="14" name="Text 12"/>
          <p:cNvSpPr txBox="1"/>
          <p:nvPr/>
        </p:nvSpPr>
        <p:spPr>
          <a:xfrm>
            <a:off x="777240" y="5349240"/>
            <a:ext cx="10607040" cy="457200"/>
          </a:xfrm>
          <a:prstGeom prst="rect">
            <a:avLst/>
          </a:prstGeom>
          <a:noFill/>
          <a:ln/>
        </p:spPr>
        <p:txBody>
          <a:bodyPr wrap="square" lIns="0" tIns="0" rIns="0" bIns="0" rtlCol="0" anchor="ctr"/>
          <a:lstStyle/>
          <a:p>
            <a:pPr indent="0" marL="0">
              <a:buNone/>
            </a:pPr>
            <a:r>
              <a:rPr lang="en-US" sz="1500" i="1" dirty="0">
                <a:solidFill>
                  <a:srgbClr val="F9F8F4"/>
                </a:solidFill>
                <a:latin typeface="Calibri" pitchFamily="34" charset="0"/>
                <a:ea typeface="Calibri" pitchFamily="34" charset="-122"/>
                <a:cs typeface="Calibri" pitchFamily="34" charset="-120"/>
              </a:rPr>
              <a:t>None of this is a marketing problem. It is a plumbing problem — and plumbing is fixable.</a:t>
            </a:r>
            <a:endParaRPr lang="en-US" sz="1500" dirty="0"/>
          </a:p>
        </p:txBody>
      </p:sp>
      <p:sp>
        <p:nvSpPr>
          <p:cNvPr id="15" name="Text 13"/>
          <p:cNvSpPr txBox="1"/>
          <p:nvPr/>
        </p:nvSpPr>
        <p:spPr>
          <a:xfrm>
            <a:off x="777240" y="6236208"/>
            <a:ext cx="5486400" cy="274320"/>
          </a:xfrm>
          <a:prstGeom prst="rect">
            <a:avLst/>
          </a:prstGeom>
          <a:noFill/>
          <a:ln/>
        </p:spPr>
        <p:txBody>
          <a:bodyPr wrap="square" lIns="0" tIns="0" rIns="0" bIns="0" rtlCol="0" anchor="ctr"/>
          <a:lstStyle/>
          <a:p>
            <a:pPr indent="0" marL="0">
              <a:buNone/>
            </a:pPr>
            <a:r>
              <a:rPr lang="en-US" sz="900" b="1" spc="220" kern="0" dirty="0">
                <a:solidFill>
                  <a:srgbClr val="8F8F86"/>
                </a:solidFill>
                <a:latin typeface="Arial" pitchFamily="34" charset="0"/>
                <a:ea typeface="Arial" pitchFamily="34" charset="-122"/>
                <a:cs typeface="Arial" pitchFamily="34" charset="-120"/>
              </a:rPr>
              <a:t>THE STAKE</a:t>
            </a:r>
            <a:endParaRPr lang="en-US" sz="900" dirty="0"/>
          </a:p>
        </p:txBody>
      </p:sp>
      <p:sp>
        <p:nvSpPr>
          <p:cNvPr id="16" name="Text 14"/>
          <p:cNvSpPr txBox="1"/>
          <p:nvPr/>
        </p:nvSpPr>
        <p:spPr>
          <a:xfrm>
            <a:off x="8214055" y="6236208"/>
            <a:ext cx="3200400" cy="274320"/>
          </a:xfrm>
          <a:prstGeom prst="rect">
            <a:avLst/>
          </a:prstGeom>
          <a:noFill/>
          <a:ln/>
        </p:spPr>
        <p:txBody>
          <a:bodyPr wrap="square" lIns="0" tIns="0" rIns="0" bIns="0" rtlCol="0" anchor="ctr"/>
          <a:lstStyle/>
          <a:p>
            <a:pPr algn="r" indent="0" marL="0">
              <a:buNone/>
            </a:pPr>
            <a:r>
              <a:rPr lang="en-US" sz="900" b="1" spc="220" kern="0" dirty="0">
                <a:solidFill>
                  <a:srgbClr val="8F8F86"/>
                </a:solidFill>
                <a:latin typeface="Arial" pitchFamily="34" charset="0"/>
                <a:ea typeface="Arial" pitchFamily="34" charset="-122"/>
                <a:cs typeface="Arial" pitchFamily="34" charset="-120"/>
              </a:rPr>
              <a:t>YARDSCALE DIGITAL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8F4"/>
        </a:solidFill>
      </p:bgPr>
    </p:bg>
    <p:spTree>
      <p:nvGrpSpPr>
        <p:cNvPr id="1" name=""/>
        <p:cNvGrpSpPr/>
        <p:nvPr/>
      </p:nvGrpSpPr>
      <p:grpSpPr>
        <a:xfrm>
          <a:off x="0" y="0"/>
          <a:ext cx="0" cy="0"/>
          <a:chOff x="0" y="0"/>
          <a:chExt cx="0" cy="0"/>
        </a:xfrm>
      </p:grpSpPr>
      <p:sp>
        <p:nvSpPr>
          <p:cNvPr id="2" name="Shape 0"/>
          <p:cNvSpPr/>
          <p:nvPr/>
        </p:nvSpPr>
        <p:spPr>
          <a:xfrm>
            <a:off x="777240" y="635508"/>
            <a:ext cx="237744" cy="105156"/>
          </a:xfrm>
          <a:prstGeom prst="parallelogram">
            <a:avLst/>
          </a:prstGeom>
          <a:solidFill>
            <a:srgbClr val="C3FC0F"/>
          </a:solidFill>
          <a:ln/>
        </p:spPr>
      </p:sp>
      <p:sp>
        <p:nvSpPr>
          <p:cNvPr id="3" name="Text 1"/>
          <p:cNvSpPr txBox="1"/>
          <p:nvPr/>
        </p:nvSpPr>
        <p:spPr>
          <a:xfrm>
            <a:off x="0" y="566928"/>
            <a:ext cx="7315200" cy="256032"/>
          </a:xfrm>
          <a:prstGeom prst="rect">
            <a:avLst/>
          </a:prstGeom>
          <a:noFill/>
          <a:ln/>
        </p:spPr>
        <p:txBody>
          <a:bodyPr wrap="square" lIns="0" tIns="0" rIns="0" bIns="0" rtlCol="0" anchor="ctr"/>
          <a:lstStyle/>
          <a:p>
            <a:pPr algn="l" indent="0" marL="0">
              <a:buNone/>
            </a:pPr>
            <a:r>
              <a:rPr lang="en-US" sz="1000" b="1" spc="260" kern="0" dirty="0">
                <a:solidFill>
                  <a:srgbClr val="6B6B62"/>
                </a:solidFill>
                <a:latin typeface="Arial" pitchFamily="34" charset="0"/>
                <a:ea typeface="Arial" pitchFamily="34" charset="-122"/>
                <a:cs typeface="Arial" pitchFamily="34" charset="-120"/>
              </a:rPr>
              <a:t>WHAT WE PROPOSE</a:t>
            </a:r>
            <a:endParaRPr lang="en-US" sz="1000" dirty="0"/>
          </a:p>
        </p:txBody>
      </p:sp>
      <p:sp>
        <p:nvSpPr>
          <p:cNvPr id="4" name="Text 2"/>
          <p:cNvSpPr txBox="1"/>
          <p:nvPr/>
        </p:nvSpPr>
        <p:spPr>
          <a:xfrm>
            <a:off x="777240" y="1051560"/>
            <a:ext cx="10058400" cy="1188720"/>
          </a:xfrm>
          <a:prstGeom prst="rect">
            <a:avLst/>
          </a:prstGeom>
          <a:noFill/>
          <a:ln/>
        </p:spPr>
        <p:txBody>
          <a:bodyPr wrap="square" lIns="0" tIns="0" rIns="0" bIns="0" rtlCol="0" anchor="ctr"/>
          <a:lstStyle/>
          <a:p>
            <a:pPr indent="0" marL="0">
              <a:lnSpc>
                <a:spcPct val="95000"/>
              </a:lnSpc>
              <a:buNone/>
            </a:pPr>
            <a:r>
              <a:rPr lang="en-US" sz="3400" b="1" spc="-40" kern="0" dirty="0">
                <a:solidFill>
                  <a:srgbClr val="131313"/>
                </a:solidFill>
                <a:latin typeface="Arial" pitchFamily="34" charset="0"/>
                <a:ea typeface="Arial" pitchFamily="34" charset="-122"/>
                <a:cs typeface="Arial" pitchFamily="34" charset="-120"/>
              </a:rPr>
              <a:t>A SITE, A GUIDE, AND A</a:t>
            </a:r>
            <a:endParaRPr lang="en-US" sz="3400" dirty="0"/>
          </a:p>
          <a:p>
            <a:pPr indent="0" marL="0">
              <a:lnSpc>
                <a:spcPct val="95000"/>
              </a:lnSpc>
              <a:buNone/>
            </a:pPr>
            <a:r>
              <a:rPr lang="en-US" sz="3400" b="1" spc="-40" kern="0" dirty="0">
                <a:solidFill>
                  <a:srgbClr val="131313"/>
                </a:solidFill>
                <a:latin typeface="Arial" pitchFamily="34" charset="0"/>
                <a:ea typeface="Arial" pitchFamily="34" charset="-122"/>
                <a:cs typeface="Arial" pitchFamily="34" charset="-120"/>
              </a:rPr>
              <a:t>SYSTEM BETWEEN THEM.</a:t>
            </a:r>
            <a:endParaRPr lang="en-US" sz="3400" dirty="0"/>
          </a:p>
        </p:txBody>
      </p:sp>
      <p:sp>
        <p:nvSpPr>
          <p:cNvPr id="5" name="Shape 3"/>
          <p:cNvSpPr/>
          <p:nvPr/>
        </p:nvSpPr>
        <p:spPr>
          <a:xfrm>
            <a:off x="777240" y="2651760"/>
            <a:ext cx="3291840" cy="2880360"/>
          </a:xfrm>
          <a:prstGeom prst="rect">
            <a:avLst/>
          </a:prstGeom>
          <a:solidFill>
            <a:srgbClr val="FFFFFF"/>
          </a:solidFill>
          <a:ln w="9525">
            <a:solidFill>
              <a:srgbClr val="DEDBD2"/>
            </a:solidFill>
            <a:prstDash val="solid"/>
          </a:ln>
        </p:spPr>
      </p:sp>
      <p:sp>
        <p:nvSpPr>
          <p:cNvPr id="6" name="Shape 4"/>
          <p:cNvSpPr/>
          <p:nvPr/>
        </p:nvSpPr>
        <p:spPr>
          <a:xfrm>
            <a:off x="1097280" y="2926080"/>
            <a:ext cx="402336" cy="402336"/>
          </a:xfrm>
          <a:prstGeom prst="ellipse">
            <a:avLst/>
          </a:prstGeom>
          <a:solidFill>
            <a:srgbClr val="131313"/>
          </a:solidFill>
          <a:ln/>
        </p:spPr>
      </p:sp>
      <p:sp>
        <p:nvSpPr>
          <p:cNvPr id="7" name="Text 5"/>
          <p:cNvSpPr txBox="1"/>
          <p:nvPr/>
        </p:nvSpPr>
        <p:spPr>
          <a:xfrm>
            <a:off x="1097280" y="2926080"/>
            <a:ext cx="402336" cy="402336"/>
          </a:xfrm>
          <a:prstGeom prst="rect">
            <a:avLst/>
          </a:prstGeom>
          <a:noFill/>
          <a:ln/>
        </p:spPr>
        <p:txBody>
          <a:bodyPr wrap="square" lIns="0" tIns="0" rIns="0" bIns="0" rtlCol="0" anchor="ctr"/>
          <a:lstStyle/>
          <a:p>
            <a:pPr algn="ctr" indent="0" marL="0">
              <a:buNone/>
            </a:pPr>
            <a:r>
              <a:rPr lang="en-US" sz="1050" b="1" dirty="0">
                <a:solidFill>
                  <a:srgbClr val="C3FC0F"/>
                </a:solidFill>
                <a:latin typeface="Arial" pitchFamily="34" charset="0"/>
                <a:ea typeface="Arial" pitchFamily="34" charset="-122"/>
                <a:cs typeface="Arial" pitchFamily="34" charset="-120"/>
              </a:rPr>
              <a:t>01</a:t>
            </a:r>
            <a:endParaRPr lang="en-US" sz="1050" dirty="0"/>
          </a:p>
        </p:txBody>
      </p:sp>
      <p:sp>
        <p:nvSpPr>
          <p:cNvPr id="8" name="Text 6"/>
          <p:cNvSpPr txBox="1"/>
          <p:nvPr/>
        </p:nvSpPr>
        <p:spPr>
          <a:xfrm>
            <a:off x="1097280" y="3493008"/>
            <a:ext cx="2651760" cy="329184"/>
          </a:xfrm>
          <a:prstGeom prst="rect">
            <a:avLst/>
          </a:prstGeom>
          <a:noFill/>
          <a:ln/>
        </p:spPr>
        <p:txBody>
          <a:bodyPr wrap="square" lIns="0" tIns="0" rIns="0" bIns="0" rtlCol="0" anchor="ctr"/>
          <a:lstStyle/>
          <a:p>
            <a:pPr indent="0" marL="0">
              <a:buNone/>
            </a:pPr>
            <a:r>
              <a:rPr lang="en-US" sz="1600" b="1" dirty="0">
                <a:solidFill>
                  <a:srgbClr val="131313"/>
                </a:solidFill>
                <a:latin typeface="Arial" pitchFamily="34" charset="0"/>
                <a:ea typeface="Arial" pitchFamily="34" charset="-122"/>
                <a:cs typeface="Arial" pitchFamily="34" charset="-120"/>
              </a:rPr>
              <a:t>The website</a:t>
            </a:r>
            <a:endParaRPr lang="en-US" sz="1600" dirty="0"/>
          </a:p>
        </p:txBody>
      </p:sp>
      <p:sp>
        <p:nvSpPr>
          <p:cNvPr id="9" name="Text 7"/>
          <p:cNvSpPr txBox="1"/>
          <p:nvPr/>
        </p:nvSpPr>
        <p:spPr>
          <a:xfrm>
            <a:off x="1097280" y="3877056"/>
            <a:ext cx="2651760" cy="1481328"/>
          </a:xfrm>
          <a:prstGeom prst="rect">
            <a:avLst/>
          </a:prstGeom>
          <a:noFill/>
          <a:ln/>
        </p:spPr>
        <p:txBody>
          <a:bodyPr wrap="square" lIns="0" tIns="0" rIns="0" bIns="0" rtlCol="0" anchor="ctr"/>
          <a:lstStyle/>
          <a:p>
            <a:pPr indent="0" marL="0">
              <a:lnSpc>
                <a:spcPct val="122000"/>
              </a:lnSpc>
              <a:buNone/>
            </a:pPr>
            <a:r>
              <a:rPr lang="en-US" sz="1150" dirty="0">
                <a:solidFill>
                  <a:srgbClr val="6B6B62"/>
                </a:solidFill>
                <a:latin typeface="Calibri" pitchFamily="34" charset="0"/>
                <a:ea typeface="Calibri" pitchFamily="34" charset="-122"/>
                <a:cs typeface="Calibri" pitchFamily="34" charset="-120"/>
              </a:rPr>
              <a:t>Answers every question a buyer has before they contact you — models, prices, process, hurricane engineering, financing and approvals. The people who do call are already most of the way to yes.</a:t>
            </a:r>
            <a:endParaRPr lang="en-US" sz="1150" dirty="0"/>
          </a:p>
        </p:txBody>
      </p:sp>
      <p:sp>
        <p:nvSpPr>
          <p:cNvPr id="10" name="Shape 8"/>
          <p:cNvSpPr/>
          <p:nvPr/>
        </p:nvSpPr>
        <p:spPr>
          <a:xfrm>
            <a:off x="4434840" y="2651760"/>
            <a:ext cx="3291840" cy="2880360"/>
          </a:xfrm>
          <a:prstGeom prst="rect">
            <a:avLst/>
          </a:prstGeom>
          <a:solidFill>
            <a:srgbClr val="FFFFFF"/>
          </a:solidFill>
          <a:ln w="9525">
            <a:solidFill>
              <a:srgbClr val="DEDBD2"/>
            </a:solidFill>
            <a:prstDash val="solid"/>
          </a:ln>
        </p:spPr>
      </p:sp>
      <p:sp>
        <p:nvSpPr>
          <p:cNvPr id="11" name="Shape 9"/>
          <p:cNvSpPr/>
          <p:nvPr/>
        </p:nvSpPr>
        <p:spPr>
          <a:xfrm>
            <a:off x="4754880" y="2926080"/>
            <a:ext cx="402336" cy="402336"/>
          </a:xfrm>
          <a:prstGeom prst="ellipse">
            <a:avLst/>
          </a:prstGeom>
          <a:solidFill>
            <a:srgbClr val="131313"/>
          </a:solidFill>
          <a:ln/>
        </p:spPr>
      </p:sp>
      <p:sp>
        <p:nvSpPr>
          <p:cNvPr id="12" name="Text 10"/>
          <p:cNvSpPr txBox="1"/>
          <p:nvPr/>
        </p:nvSpPr>
        <p:spPr>
          <a:xfrm>
            <a:off x="4754880" y="2926080"/>
            <a:ext cx="402336" cy="402336"/>
          </a:xfrm>
          <a:prstGeom prst="rect">
            <a:avLst/>
          </a:prstGeom>
          <a:noFill/>
          <a:ln/>
        </p:spPr>
        <p:txBody>
          <a:bodyPr wrap="square" lIns="0" tIns="0" rIns="0" bIns="0" rtlCol="0" anchor="ctr"/>
          <a:lstStyle/>
          <a:p>
            <a:pPr algn="ctr" indent="0" marL="0">
              <a:buNone/>
            </a:pPr>
            <a:r>
              <a:rPr lang="en-US" sz="1050" b="1" dirty="0">
                <a:solidFill>
                  <a:srgbClr val="C3FC0F"/>
                </a:solidFill>
                <a:latin typeface="Arial" pitchFamily="34" charset="0"/>
                <a:ea typeface="Arial" pitchFamily="34" charset="-122"/>
                <a:cs typeface="Arial" pitchFamily="34" charset="-120"/>
              </a:rPr>
              <a:t>02</a:t>
            </a:r>
            <a:endParaRPr lang="en-US" sz="1050" dirty="0"/>
          </a:p>
        </p:txBody>
      </p:sp>
      <p:sp>
        <p:nvSpPr>
          <p:cNvPr id="13" name="Text 11"/>
          <p:cNvSpPr txBox="1"/>
          <p:nvPr/>
        </p:nvSpPr>
        <p:spPr>
          <a:xfrm>
            <a:off x="4754880" y="3493008"/>
            <a:ext cx="2651760" cy="329184"/>
          </a:xfrm>
          <a:prstGeom prst="rect">
            <a:avLst/>
          </a:prstGeom>
          <a:noFill/>
          <a:ln/>
        </p:spPr>
        <p:txBody>
          <a:bodyPr wrap="square" lIns="0" tIns="0" rIns="0" bIns="0" rtlCol="0" anchor="ctr"/>
          <a:lstStyle/>
          <a:p>
            <a:pPr indent="0" marL="0">
              <a:buNone/>
            </a:pPr>
            <a:r>
              <a:rPr lang="en-US" sz="1600" b="1" dirty="0">
                <a:solidFill>
                  <a:srgbClr val="131313"/>
                </a:solidFill>
                <a:latin typeface="Arial" pitchFamily="34" charset="0"/>
                <a:ea typeface="Arial" pitchFamily="34" charset="-122"/>
                <a:cs typeface="Arial" pitchFamily="34" charset="-120"/>
              </a:rPr>
              <a:t>The buyer’s guide</a:t>
            </a:r>
            <a:endParaRPr lang="en-US" sz="1600" dirty="0"/>
          </a:p>
        </p:txBody>
      </p:sp>
      <p:sp>
        <p:nvSpPr>
          <p:cNvPr id="14" name="Text 12"/>
          <p:cNvSpPr txBox="1"/>
          <p:nvPr/>
        </p:nvSpPr>
        <p:spPr>
          <a:xfrm>
            <a:off x="4754880" y="3877056"/>
            <a:ext cx="2651760" cy="1481328"/>
          </a:xfrm>
          <a:prstGeom prst="rect">
            <a:avLst/>
          </a:prstGeom>
          <a:noFill/>
          <a:ln/>
        </p:spPr>
        <p:txBody>
          <a:bodyPr wrap="square" lIns="0" tIns="0" rIns="0" bIns="0" rtlCol="0" anchor="ctr"/>
          <a:lstStyle/>
          <a:p>
            <a:pPr indent="0" marL="0">
              <a:lnSpc>
                <a:spcPct val="122000"/>
              </a:lnSpc>
              <a:buNone/>
            </a:pPr>
            <a:r>
              <a:rPr lang="en-US" sz="1150" dirty="0">
                <a:solidFill>
                  <a:srgbClr val="6B6B62"/>
                </a:solidFill>
                <a:latin typeface="Calibri" pitchFamily="34" charset="0"/>
                <a:ea typeface="Calibri" pitchFamily="34" charset="-122"/>
                <a:cs typeface="Calibri" pitchFamily="34" charset="-120"/>
              </a:rPr>
              <a:t>A 20-page PDF worth having: costs, import duty, parish approvals, financing, and a site checklist. Given away free in exchange for a name and an email.</a:t>
            </a:r>
            <a:endParaRPr lang="en-US" sz="1150" dirty="0"/>
          </a:p>
        </p:txBody>
      </p:sp>
      <p:sp>
        <p:nvSpPr>
          <p:cNvPr id="15" name="Shape 13"/>
          <p:cNvSpPr/>
          <p:nvPr/>
        </p:nvSpPr>
        <p:spPr>
          <a:xfrm>
            <a:off x="8092440" y="2651760"/>
            <a:ext cx="3291840" cy="2880360"/>
          </a:xfrm>
          <a:prstGeom prst="rect">
            <a:avLst/>
          </a:prstGeom>
          <a:solidFill>
            <a:srgbClr val="FFFFFF"/>
          </a:solidFill>
          <a:ln w="9525">
            <a:solidFill>
              <a:srgbClr val="DEDBD2"/>
            </a:solidFill>
            <a:prstDash val="solid"/>
          </a:ln>
        </p:spPr>
      </p:sp>
      <p:sp>
        <p:nvSpPr>
          <p:cNvPr id="16" name="Shape 14"/>
          <p:cNvSpPr/>
          <p:nvPr/>
        </p:nvSpPr>
        <p:spPr>
          <a:xfrm>
            <a:off x="8412480" y="2926080"/>
            <a:ext cx="402336" cy="402336"/>
          </a:xfrm>
          <a:prstGeom prst="ellipse">
            <a:avLst/>
          </a:prstGeom>
          <a:solidFill>
            <a:srgbClr val="131313"/>
          </a:solidFill>
          <a:ln/>
        </p:spPr>
      </p:sp>
      <p:sp>
        <p:nvSpPr>
          <p:cNvPr id="17" name="Text 15"/>
          <p:cNvSpPr txBox="1"/>
          <p:nvPr/>
        </p:nvSpPr>
        <p:spPr>
          <a:xfrm>
            <a:off x="8412480" y="2926080"/>
            <a:ext cx="402336" cy="402336"/>
          </a:xfrm>
          <a:prstGeom prst="rect">
            <a:avLst/>
          </a:prstGeom>
          <a:noFill/>
          <a:ln/>
        </p:spPr>
        <p:txBody>
          <a:bodyPr wrap="square" lIns="0" tIns="0" rIns="0" bIns="0" rtlCol="0" anchor="ctr"/>
          <a:lstStyle/>
          <a:p>
            <a:pPr algn="ctr" indent="0" marL="0">
              <a:buNone/>
            </a:pPr>
            <a:r>
              <a:rPr lang="en-US" sz="1050" b="1" dirty="0">
                <a:solidFill>
                  <a:srgbClr val="C3FC0F"/>
                </a:solidFill>
                <a:latin typeface="Arial" pitchFamily="34" charset="0"/>
                <a:ea typeface="Arial" pitchFamily="34" charset="-122"/>
                <a:cs typeface="Arial" pitchFamily="34" charset="-120"/>
              </a:rPr>
              <a:t>03</a:t>
            </a:r>
            <a:endParaRPr lang="en-US" sz="1050" dirty="0"/>
          </a:p>
        </p:txBody>
      </p:sp>
      <p:sp>
        <p:nvSpPr>
          <p:cNvPr id="18" name="Text 16"/>
          <p:cNvSpPr txBox="1"/>
          <p:nvPr/>
        </p:nvSpPr>
        <p:spPr>
          <a:xfrm>
            <a:off x="8412480" y="3493008"/>
            <a:ext cx="2651760" cy="329184"/>
          </a:xfrm>
          <a:prstGeom prst="rect">
            <a:avLst/>
          </a:prstGeom>
          <a:noFill/>
          <a:ln/>
        </p:spPr>
        <p:txBody>
          <a:bodyPr wrap="square" lIns="0" tIns="0" rIns="0" bIns="0" rtlCol="0" anchor="ctr"/>
          <a:lstStyle/>
          <a:p>
            <a:pPr indent="0" marL="0">
              <a:buNone/>
            </a:pPr>
            <a:r>
              <a:rPr lang="en-US" sz="1600" b="1" dirty="0">
                <a:solidFill>
                  <a:srgbClr val="131313"/>
                </a:solidFill>
                <a:latin typeface="Arial" pitchFamily="34" charset="0"/>
                <a:ea typeface="Arial" pitchFamily="34" charset="-122"/>
                <a:cs typeface="Arial" pitchFamily="34" charset="-120"/>
              </a:rPr>
              <a:t>The lead system</a:t>
            </a:r>
            <a:endParaRPr lang="en-US" sz="1600" dirty="0"/>
          </a:p>
        </p:txBody>
      </p:sp>
      <p:sp>
        <p:nvSpPr>
          <p:cNvPr id="19" name="Text 17"/>
          <p:cNvSpPr txBox="1"/>
          <p:nvPr/>
        </p:nvSpPr>
        <p:spPr>
          <a:xfrm>
            <a:off x="8412480" y="3877056"/>
            <a:ext cx="2651760" cy="1481328"/>
          </a:xfrm>
          <a:prstGeom prst="rect">
            <a:avLst/>
          </a:prstGeom>
          <a:noFill/>
          <a:ln/>
        </p:spPr>
        <p:txBody>
          <a:bodyPr wrap="square" lIns="0" tIns="0" rIns="0" bIns="0" rtlCol="0" anchor="ctr"/>
          <a:lstStyle/>
          <a:p>
            <a:pPr indent="0" marL="0">
              <a:lnSpc>
                <a:spcPct val="122000"/>
              </a:lnSpc>
              <a:buNone/>
            </a:pPr>
            <a:r>
              <a:rPr lang="en-US" sz="1150" dirty="0">
                <a:solidFill>
                  <a:srgbClr val="6B6B62"/>
                </a:solidFill>
                <a:latin typeface="Calibri" pitchFamily="34" charset="0"/>
                <a:ea typeface="Calibri" pitchFamily="34" charset="-122"/>
                <a:cs typeface="Calibri" pitchFamily="34" charset="-120"/>
              </a:rPr>
              <a:t>The guide sends itself. Every enquiry arrives with the parish, the model and the site notes already attached — by email and on WhatsApp, in seconds.</a:t>
            </a:r>
            <a:endParaRPr lang="en-US" sz="1150" dirty="0"/>
          </a:p>
        </p:txBody>
      </p:sp>
      <p:sp>
        <p:nvSpPr>
          <p:cNvPr id="20" name="Text 18"/>
          <p:cNvSpPr txBox="1"/>
          <p:nvPr/>
        </p:nvSpPr>
        <p:spPr>
          <a:xfrm>
            <a:off x="777240" y="5806440"/>
            <a:ext cx="10607040" cy="411480"/>
          </a:xfrm>
          <a:prstGeom prst="rect">
            <a:avLst/>
          </a:prstGeom>
          <a:noFill/>
          <a:ln/>
        </p:spPr>
        <p:txBody>
          <a:bodyPr wrap="square" lIns="0" tIns="0" rIns="0" bIns="0" rtlCol="0" anchor="ctr"/>
          <a:lstStyle/>
          <a:p>
            <a:pPr indent="0" marL="0">
              <a:buNone/>
            </a:pPr>
            <a:r>
              <a:rPr lang="en-US" sz="1450" i="1" dirty="0">
                <a:solidFill>
                  <a:srgbClr val="131313"/>
                </a:solidFill>
                <a:latin typeface="Calibri" pitchFamily="34" charset="0"/>
                <a:ea typeface="Calibri" pitchFamily="34" charset="-122"/>
                <a:cs typeface="Calibri" pitchFamily="34" charset="-120"/>
              </a:rPr>
              <a:t>The site and the guide are already built. You can look at both today.</a:t>
            </a:r>
            <a:endParaRPr lang="en-US" sz="1450" dirty="0"/>
          </a:p>
        </p:txBody>
      </p:sp>
      <p:sp>
        <p:nvSpPr>
          <p:cNvPr id="21" name="Text 19"/>
          <p:cNvSpPr txBox="1"/>
          <p:nvPr/>
        </p:nvSpPr>
        <p:spPr>
          <a:xfrm>
            <a:off x="777240" y="6236208"/>
            <a:ext cx="5486400" cy="274320"/>
          </a:xfrm>
          <a:prstGeom prst="rect">
            <a:avLst/>
          </a:prstGeom>
          <a:noFill/>
          <a:ln/>
        </p:spPr>
        <p:txBody>
          <a:bodyPr wrap="square" lIns="0" tIns="0" rIns="0" bIns="0" rtlCol="0" anchor="ctr"/>
          <a:lstStyle/>
          <a:p>
            <a:pPr indent="0" marL="0">
              <a:buNone/>
            </a:pPr>
            <a:r>
              <a:rPr lang="en-US" sz="900" b="1" spc="220" kern="0" dirty="0">
                <a:solidFill>
                  <a:srgbClr val="6B6B62"/>
                </a:solidFill>
                <a:latin typeface="Arial" pitchFamily="34" charset="0"/>
                <a:ea typeface="Arial" pitchFamily="34" charset="-122"/>
                <a:cs typeface="Arial" pitchFamily="34" charset="-120"/>
              </a:rPr>
              <a:t>THE PROPOSAL</a:t>
            </a:r>
            <a:endParaRPr lang="en-US" sz="900" dirty="0"/>
          </a:p>
        </p:txBody>
      </p:sp>
      <p:sp>
        <p:nvSpPr>
          <p:cNvPr id="22" name="Text 20"/>
          <p:cNvSpPr txBox="1"/>
          <p:nvPr/>
        </p:nvSpPr>
        <p:spPr>
          <a:xfrm>
            <a:off x="8214055" y="6236208"/>
            <a:ext cx="3200400" cy="274320"/>
          </a:xfrm>
          <a:prstGeom prst="rect">
            <a:avLst/>
          </a:prstGeom>
          <a:noFill/>
          <a:ln/>
        </p:spPr>
        <p:txBody>
          <a:bodyPr wrap="square" lIns="0" tIns="0" rIns="0" bIns="0" rtlCol="0" anchor="ctr"/>
          <a:lstStyle/>
          <a:p>
            <a:pPr algn="r" indent="0" marL="0">
              <a:buNone/>
            </a:pPr>
            <a:r>
              <a:rPr lang="en-US" sz="900" b="1" spc="220" kern="0" dirty="0">
                <a:solidFill>
                  <a:srgbClr val="6B6B62"/>
                </a:solidFill>
                <a:latin typeface="Arial" pitchFamily="34" charset="0"/>
                <a:ea typeface="Arial" pitchFamily="34" charset="-122"/>
                <a:cs typeface="Arial" pitchFamily="34" charset="-120"/>
              </a:rPr>
              <a:t>YARDSCALE DIGITAL</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1313"/>
        </a:solidFill>
      </p:bgPr>
    </p:bg>
    <p:spTree>
      <p:nvGrpSpPr>
        <p:cNvPr id="1" name=""/>
        <p:cNvGrpSpPr/>
        <p:nvPr/>
      </p:nvGrpSpPr>
      <p:grpSpPr>
        <a:xfrm>
          <a:off x="0" y="0"/>
          <a:ext cx="0" cy="0"/>
          <a:chOff x="0" y="0"/>
          <a:chExt cx="0" cy="0"/>
        </a:xfrm>
      </p:grpSpPr>
      <p:pic>
        <p:nvPicPr>
          <p:cNvPr id="2" name="Image 0" descr="/home/user/YardScale-Digital/clients/design-container-ja/deck-assets/deck-hero.png">    </p:cNvPr>
          <p:cNvPicPr>
            <a:picLocks noChangeAspect="1"/>
          </p:cNvPicPr>
          <p:nvPr/>
        </p:nvPicPr>
        <p:blipFill>
          <a:blip r:embed="rId1"/>
          <a:stretch>
            <a:fillRect/>
          </a:stretch>
        </p:blipFill>
        <p:spPr>
          <a:xfrm>
            <a:off x="0" y="0"/>
            <a:ext cx="12191695" cy="6705295"/>
          </a:xfrm>
          <a:prstGeom prst="rect">
            <a:avLst/>
          </a:prstGeom>
        </p:spPr>
      </p:pic>
      <p:sp>
        <p:nvSpPr>
          <p:cNvPr id="3" name="Shape 0"/>
          <p:cNvSpPr/>
          <p:nvPr/>
        </p:nvSpPr>
        <p:spPr>
          <a:xfrm>
            <a:off x="0" y="5074920"/>
            <a:ext cx="12191695" cy="1783080"/>
          </a:xfrm>
          <a:prstGeom prst="rect">
            <a:avLst/>
          </a:prstGeom>
          <a:solidFill>
            <a:srgbClr val="131313">
              <a:alpha val="92000"/>
            </a:srgbClr>
          </a:solidFill>
          <a:ln/>
        </p:spPr>
      </p:sp>
      <p:sp>
        <p:nvSpPr>
          <p:cNvPr id="4" name="Text 1"/>
          <p:cNvSpPr txBox="1"/>
          <p:nvPr/>
        </p:nvSpPr>
        <p:spPr>
          <a:xfrm>
            <a:off x="777240" y="5321808"/>
            <a:ext cx="8229600" cy="384048"/>
          </a:xfrm>
          <a:prstGeom prst="rect">
            <a:avLst/>
          </a:prstGeom>
          <a:noFill/>
          <a:ln/>
        </p:spPr>
        <p:txBody>
          <a:bodyPr wrap="square" lIns="0" tIns="0" rIns="0" bIns="0" rtlCol="0" anchor="ctr"/>
          <a:lstStyle/>
          <a:p>
            <a:pPr indent="0" marL="0">
              <a:buNone/>
            </a:pPr>
            <a:r>
              <a:rPr lang="en-US" sz="1900" b="1" spc="-20" kern="0" dirty="0">
                <a:solidFill>
                  <a:srgbClr val="F9F8F4"/>
                </a:solidFill>
                <a:latin typeface="Arial" pitchFamily="34" charset="0"/>
                <a:ea typeface="Arial" pitchFamily="34" charset="-122"/>
                <a:cs typeface="Arial" pitchFamily="34" charset="-120"/>
              </a:rPr>
              <a:t>THE SITE — BUILT, NOT SKETCHED</a:t>
            </a:r>
            <a:endParaRPr lang="en-US" sz="1900" dirty="0"/>
          </a:p>
        </p:txBody>
      </p:sp>
      <p:sp>
        <p:nvSpPr>
          <p:cNvPr id="5" name="Text 2"/>
          <p:cNvSpPr txBox="1"/>
          <p:nvPr/>
        </p:nvSpPr>
        <p:spPr>
          <a:xfrm>
            <a:off x="777240" y="5760720"/>
            <a:ext cx="8778240" cy="548640"/>
          </a:xfrm>
          <a:prstGeom prst="rect">
            <a:avLst/>
          </a:prstGeom>
          <a:noFill/>
          <a:ln/>
        </p:spPr>
        <p:txBody>
          <a:bodyPr wrap="square" lIns="0" tIns="0" rIns="0" bIns="0" rtlCol="0" anchor="ctr"/>
          <a:lstStyle/>
          <a:p>
            <a:pPr indent="0" marL="0">
              <a:lnSpc>
                <a:spcPct val="118000"/>
              </a:lnSpc>
              <a:buNone/>
            </a:pPr>
            <a:r>
              <a:rPr lang="en-US" sz="1250" dirty="0">
                <a:solidFill>
                  <a:srgbClr val="B6B6AD"/>
                </a:solidFill>
                <a:latin typeface="Calibri" pitchFamily="34" charset="0"/>
                <a:ea typeface="Calibri" pitchFamily="34" charset="-122"/>
                <a:cs typeface="Calibri" pitchFamily="34" charset="-120"/>
              </a:rPr>
              <a:t>Mobile-first, loads instantly, and every drawing is vector — so it stays sharp on any screen and costs nothing to host.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8F4"/>
        </a:solidFill>
      </p:bgPr>
    </p:bg>
    <p:spTree>
      <p:nvGrpSpPr>
        <p:cNvPr id="1" name=""/>
        <p:cNvGrpSpPr/>
        <p:nvPr/>
      </p:nvGrpSpPr>
      <p:grpSpPr>
        <a:xfrm>
          <a:off x="0" y="0"/>
          <a:ext cx="0" cy="0"/>
          <a:chOff x="0" y="0"/>
          <a:chExt cx="0" cy="0"/>
        </a:xfrm>
      </p:grpSpPr>
      <p:pic>
        <p:nvPicPr>
          <p:cNvPr id="2" name="Image 0" descr="/home/user/YardScale-Digital/clients/design-container-ja/deck-assets/deck-models.png">    </p:cNvPr>
          <p:cNvPicPr>
            <a:picLocks noChangeAspect="1"/>
          </p:cNvPicPr>
          <p:nvPr/>
        </p:nvPicPr>
        <p:blipFill>
          <a:blip r:embed="rId1"/>
          <a:stretch>
            <a:fillRect/>
          </a:stretch>
        </p:blipFill>
        <p:spPr>
          <a:xfrm>
            <a:off x="0" y="822960"/>
            <a:ext cx="12191695" cy="4039819"/>
          </a:xfrm>
          <a:prstGeom prst="rect">
            <a:avLst/>
          </a:prstGeom>
        </p:spPr>
      </p:pic>
      <p:sp>
        <p:nvSpPr>
          <p:cNvPr id="3" name="Text 0"/>
          <p:cNvSpPr txBox="1"/>
          <p:nvPr/>
        </p:nvSpPr>
        <p:spPr>
          <a:xfrm>
            <a:off x="777240" y="274320"/>
            <a:ext cx="10607040" cy="411480"/>
          </a:xfrm>
          <a:prstGeom prst="rect">
            <a:avLst/>
          </a:prstGeom>
          <a:noFill/>
          <a:ln/>
        </p:spPr>
        <p:txBody>
          <a:bodyPr wrap="square" lIns="0" tIns="0" rIns="0" bIns="0" rtlCol="0" anchor="ctr"/>
          <a:lstStyle/>
          <a:p>
            <a:pPr indent="0" marL="0">
              <a:buNone/>
            </a:pPr>
            <a:r>
              <a:rPr lang="en-US" sz="2100" b="1" spc="-30" kern="0" dirty="0">
                <a:solidFill>
                  <a:srgbClr val="131313"/>
                </a:solidFill>
                <a:latin typeface="Arial" pitchFamily="34" charset="0"/>
                <a:ea typeface="Arial" pitchFamily="34" charset="-122"/>
                <a:cs typeface="Arial" pitchFamily="34" charset="-120"/>
              </a:rPr>
              <a:t>EVERY MODEL, PRICED IN THE OPEN</a:t>
            </a:r>
            <a:endParaRPr lang="en-US" sz="2100" dirty="0"/>
          </a:p>
        </p:txBody>
      </p:sp>
      <p:sp>
        <p:nvSpPr>
          <p:cNvPr id="4" name="Text 1"/>
          <p:cNvSpPr txBox="1"/>
          <p:nvPr/>
        </p:nvSpPr>
        <p:spPr>
          <a:xfrm>
            <a:off x="777240" y="5074920"/>
            <a:ext cx="10607040" cy="914400"/>
          </a:xfrm>
          <a:prstGeom prst="rect">
            <a:avLst/>
          </a:prstGeom>
          <a:noFill/>
          <a:ln/>
        </p:spPr>
        <p:txBody>
          <a:bodyPr wrap="square" lIns="0" tIns="0" rIns="0" bIns="0" rtlCol="0" anchor="ctr"/>
          <a:lstStyle/>
          <a:p>
            <a:pPr indent="0" marL="0">
              <a:lnSpc>
                <a:spcPct val="120000"/>
              </a:lnSpc>
              <a:buNone/>
            </a:pPr>
            <a:r>
              <a:rPr lang="en-US" sz="1250" dirty="0">
                <a:solidFill>
                  <a:srgbClr val="6B6B62"/>
                </a:solidFill>
                <a:latin typeface="Calibri" pitchFamily="34" charset="0"/>
                <a:ea typeface="Calibri" pitchFamily="34" charset="-122"/>
                <a:cs typeface="Calibri" pitchFamily="34" charset="-120"/>
              </a:rPr>
              <a:t>Prices shown are placeholders benchmarked against the published Jamaican market — we swap in your real numbers in week one. Publishing a range filters out the people who were never going to buy, before they reach your phone.</a:t>
            </a:r>
            <a:endParaRPr lang="en-US" sz="1250" dirty="0"/>
          </a:p>
        </p:txBody>
      </p:sp>
      <p:sp>
        <p:nvSpPr>
          <p:cNvPr id="5" name="Text 2"/>
          <p:cNvSpPr txBox="1"/>
          <p:nvPr/>
        </p:nvSpPr>
        <p:spPr>
          <a:xfrm>
            <a:off x="777240" y="6236208"/>
            <a:ext cx="5486400" cy="274320"/>
          </a:xfrm>
          <a:prstGeom prst="rect">
            <a:avLst/>
          </a:prstGeom>
          <a:noFill/>
          <a:ln/>
        </p:spPr>
        <p:txBody>
          <a:bodyPr wrap="square" lIns="0" tIns="0" rIns="0" bIns="0" rtlCol="0" anchor="ctr"/>
          <a:lstStyle/>
          <a:p>
            <a:pPr indent="0" marL="0">
              <a:buNone/>
            </a:pPr>
            <a:r>
              <a:rPr lang="en-US" sz="900" b="1" spc="220" kern="0" dirty="0">
                <a:solidFill>
                  <a:srgbClr val="6B6B62"/>
                </a:solidFill>
                <a:latin typeface="Arial" pitchFamily="34" charset="0"/>
                <a:ea typeface="Arial" pitchFamily="34" charset="-122"/>
                <a:cs typeface="Arial" pitchFamily="34" charset="-120"/>
              </a:rPr>
              <a:t>THE RANGE</a:t>
            </a:r>
            <a:endParaRPr lang="en-US" sz="900" dirty="0"/>
          </a:p>
        </p:txBody>
      </p:sp>
      <p:sp>
        <p:nvSpPr>
          <p:cNvPr id="6" name="Text 3"/>
          <p:cNvSpPr txBox="1"/>
          <p:nvPr/>
        </p:nvSpPr>
        <p:spPr>
          <a:xfrm>
            <a:off x="8214055" y="6236208"/>
            <a:ext cx="3200400" cy="274320"/>
          </a:xfrm>
          <a:prstGeom prst="rect">
            <a:avLst/>
          </a:prstGeom>
          <a:noFill/>
          <a:ln/>
        </p:spPr>
        <p:txBody>
          <a:bodyPr wrap="square" lIns="0" tIns="0" rIns="0" bIns="0" rtlCol="0" anchor="ctr"/>
          <a:lstStyle/>
          <a:p>
            <a:pPr algn="r" indent="0" marL="0">
              <a:buNone/>
            </a:pPr>
            <a:r>
              <a:rPr lang="en-US" sz="900" b="1" spc="220" kern="0" dirty="0">
                <a:solidFill>
                  <a:srgbClr val="6B6B62"/>
                </a:solidFill>
                <a:latin typeface="Arial" pitchFamily="34" charset="0"/>
                <a:ea typeface="Arial" pitchFamily="34" charset="-122"/>
                <a:cs typeface="Arial" pitchFamily="34" charset="-120"/>
              </a:rPr>
              <a:t>YARDSCALE DIGITAL</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1313"/>
        </a:solidFill>
      </p:bgPr>
    </p:bg>
    <p:spTree>
      <p:nvGrpSpPr>
        <p:cNvPr id="1" name=""/>
        <p:cNvGrpSpPr/>
        <p:nvPr/>
      </p:nvGrpSpPr>
      <p:grpSpPr>
        <a:xfrm>
          <a:off x="0" y="0"/>
          <a:ext cx="0" cy="0"/>
          <a:chOff x="0" y="0"/>
          <a:chExt cx="0" cy="0"/>
        </a:xfrm>
      </p:grpSpPr>
      <p:pic>
        <p:nvPicPr>
          <p:cNvPr id="2" name="Image 0" descr="/home/user/YardScale-Digital/clients/design-container-ja/deck-assets/deck-guidecover.png">    </p:cNvPr>
          <p:cNvPicPr>
            <a:picLocks noChangeAspect="1"/>
          </p:cNvPicPr>
          <p:nvPr/>
        </p:nvPicPr>
        <p:blipFill>
          <a:blip r:embed="rId1"/>
          <a:stretch>
            <a:fillRect/>
          </a:stretch>
        </p:blipFill>
        <p:spPr>
          <a:xfrm>
            <a:off x="777240" y="868680"/>
            <a:ext cx="2999232" cy="4242816"/>
          </a:xfrm>
          <a:prstGeom prst="rect">
            <a:avLst/>
          </a:prstGeom>
        </p:spPr>
      </p:pic>
      <p:pic>
        <p:nvPicPr>
          <p:cNvPr id="3" name="Image 1" descr="/home/user/YardScale-Digital/clients/design-container-ja/deck-assets/deck-guidepage.png">    </p:cNvPr>
          <p:cNvPicPr>
            <a:picLocks noChangeAspect="1"/>
          </p:cNvPicPr>
          <p:nvPr/>
        </p:nvPicPr>
        <p:blipFill>
          <a:blip r:embed="rId2"/>
          <a:stretch>
            <a:fillRect/>
          </a:stretch>
        </p:blipFill>
        <p:spPr>
          <a:xfrm>
            <a:off x="3977640" y="1371600"/>
            <a:ext cx="2587752" cy="3657600"/>
          </a:xfrm>
          <a:prstGeom prst="rect">
            <a:avLst/>
          </a:prstGeom>
        </p:spPr>
      </p:pic>
      <p:sp>
        <p:nvSpPr>
          <p:cNvPr id="4" name="Shape 0"/>
          <p:cNvSpPr/>
          <p:nvPr/>
        </p:nvSpPr>
        <p:spPr>
          <a:xfrm>
            <a:off x="777240" y="635508"/>
            <a:ext cx="237744" cy="105156"/>
          </a:xfrm>
          <a:prstGeom prst="parallelogram">
            <a:avLst/>
          </a:prstGeom>
          <a:solidFill>
            <a:srgbClr val="C3FC0F"/>
          </a:solidFill>
          <a:ln/>
        </p:spPr>
      </p:sp>
      <p:sp>
        <p:nvSpPr>
          <p:cNvPr id="5" name="Text 1"/>
          <p:cNvSpPr txBox="1"/>
          <p:nvPr/>
        </p:nvSpPr>
        <p:spPr>
          <a:xfrm>
            <a:off x="1161288" y="566928"/>
            <a:ext cx="7315200" cy="256032"/>
          </a:xfrm>
          <a:prstGeom prst="rect">
            <a:avLst/>
          </a:prstGeom>
          <a:noFill/>
          <a:ln/>
        </p:spPr>
        <p:txBody>
          <a:bodyPr wrap="square" lIns="0" tIns="0" rIns="0" bIns="0" rtlCol="0" anchor="ctr"/>
          <a:lstStyle/>
          <a:p>
            <a:pPr algn="l" indent="0" marL="0">
              <a:buNone/>
            </a:pPr>
            <a:r>
              <a:rPr lang="en-US" sz="1000" b="1" spc="260" kern="0" dirty="0">
                <a:solidFill>
                  <a:srgbClr val="8F8F86"/>
                </a:solidFill>
                <a:latin typeface="Arial" pitchFamily="34" charset="0"/>
                <a:ea typeface="Arial" pitchFamily="34" charset="-122"/>
                <a:cs typeface="Arial" pitchFamily="34" charset="-120"/>
              </a:rPr>
              <a:t>THE LEAD MAGNET</a:t>
            </a:r>
            <a:endParaRPr lang="en-US" sz="1000" dirty="0"/>
          </a:p>
        </p:txBody>
      </p:sp>
      <p:sp>
        <p:nvSpPr>
          <p:cNvPr id="6" name="Text 2"/>
          <p:cNvSpPr txBox="1"/>
          <p:nvPr/>
        </p:nvSpPr>
        <p:spPr>
          <a:xfrm>
            <a:off x="7040880" y="1234440"/>
            <a:ext cx="4572000" cy="1188720"/>
          </a:xfrm>
          <a:prstGeom prst="rect">
            <a:avLst/>
          </a:prstGeom>
          <a:noFill/>
          <a:ln/>
        </p:spPr>
        <p:txBody>
          <a:bodyPr wrap="square" lIns="0" tIns="0" rIns="0" bIns="0" rtlCol="0" anchor="ctr"/>
          <a:lstStyle/>
          <a:p>
            <a:pPr indent="0" marL="0">
              <a:lnSpc>
                <a:spcPct val="95000"/>
              </a:lnSpc>
              <a:buNone/>
            </a:pPr>
            <a:r>
              <a:rPr lang="en-US" sz="3000" b="1" spc="-40" kern="0" dirty="0">
                <a:solidFill>
                  <a:srgbClr val="F9F8F4"/>
                </a:solidFill>
                <a:latin typeface="Arial" pitchFamily="34" charset="0"/>
                <a:ea typeface="Arial" pitchFamily="34" charset="-122"/>
                <a:cs typeface="Arial" pitchFamily="34" charset="-120"/>
              </a:rPr>
              <a:t>20 PAGES THEY</a:t>
            </a:r>
            <a:endParaRPr lang="en-US" sz="3000" dirty="0"/>
          </a:p>
          <a:p>
            <a:pPr indent="0" marL="0">
              <a:lnSpc>
                <a:spcPct val="95000"/>
              </a:lnSpc>
              <a:buNone/>
            </a:pPr>
            <a:r>
              <a:rPr lang="en-US" sz="3000" b="1" spc="-40" kern="0" dirty="0">
                <a:solidFill>
                  <a:srgbClr val="F9F8F4"/>
                </a:solidFill>
                <a:latin typeface="Arial" pitchFamily="34" charset="0"/>
                <a:ea typeface="Arial" pitchFamily="34" charset="-122"/>
                <a:cs typeface="Arial" pitchFamily="34" charset="-120"/>
              </a:rPr>
              <a:t>ACTUALLY WANT.</a:t>
            </a:r>
            <a:endParaRPr lang="en-US" sz="3000" dirty="0"/>
          </a:p>
        </p:txBody>
      </p:sp>
      <p:sp>
        <p:nvSpPr>
          <p:cNvPr id="7" name="Text 3"/>
          <p:cNvSpPr txBox="1"/>
          <p:nvPr/>
        </p:nvSpPr>
        <p:spPr>
          <a:xfrm>
            <a:off x="7040880" y="2697480"/>
            <a:ext cx="4389120" cy="237744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200" dirty="0">
                <a:solidFill>
                  <a:srgbClr val="A9A9A0"/>
                </a:solidFill>
                <a:latin typeface="Calibri" pitchFamily="34" charset="0"/>
                <a:ea typeface="Calibri" pitchFamily="34" charset="-122"/>
                <a:cs typeface="Calibri" pitchFamily="34" charset="-120"/>
              </a:rPr>
              <a:t>The true landed cost of an imported unit — duty, GCT and stamp duty, worked through</a:t>
            </a:r>
            <a:endParaRPr lang="en-US" sz="1200" dirty="0"/>
          </a:p>
          <a:p>
            <a:pPr marL="342900" indent="-342900">
              <a:lnSpc>
                <a:spcPct val="115000"/>
              </a:lnSpc>
              <a:spcAft>
                <a:spcPts val="800"/>
              </a:spcAft>
              <a:buSzPct val="100000"/>
              <a:buChar char="•"/>
            </a:pPr>
            <a:r>
              <a:rPr lang="en-US" sz="1200" dirty="0">
                <a:solidFill>
                  <a:srgbClr val="A9A9A0"/>
                </a:solidFill>
                <a:latin typeface="Calibri" pitchFamily="34" charset="0"/>
                <a:ea typeface="Calibri" pitchFamily="34" charset="-122"/>
                <a:cs typeface="Calibri" pitchFamily="34" charset="-120"/>
              </a:rPr>
              <a:t>What parish council asks for, and the four things that stall an approval</a:t>
            </a:r>
            <a:endParaRPr lang="en-US" sz="1200" dirty="0"/>
          </a:p>
          <a:p>
            <a:pPr marL="342900" indent="-342900">
              <a:lnSpc>
                <a:spcPct val="115000"/>
              </a:lnSpc>
              <a:spcAft>
                <a:spcPts val="800"/>
              </a:spcAft>
              <a:buSzPct val="100000"/>
              <a:buChar char="•"/>
            </a:pPr>
            <a:r>
              <a:rPr lang="en-US" sz="1200" dirty="0">
                <a:solidFill>
                  <a:srgbClr val="A9A9A0"/>
                </a:solidFill>
                <a:latin typeface="Calibri" pitchFamily="34" charset="0"/>
                <a:ea typeface="Calibri" pitchFamily="34" charset="-122"/>
                <a:cs typeface="Calibri" pitchFamily="34" charset="-120"/>
              </a:rPr>
              <a:t>Which lenders finance prefab here, and what each needs from the buyer</a:t>
            </a:r>
            <a:endParaRPr lang="en-US" sz="1200" dirty="0"/>
          </a:p>
          <a:p>
            <a:pPr marL="342900" indent="-342900">
              <a:lnSpc>
                <a:spcPct val="115000"/>
              </a:lnSpc>
              <a:spcAft>
                <a:spcPts val="800"/>
              </a:spcAft>
              <a:buSzPct val="100000"/>
              <a:buChar char="•"/>
            </a:pPr>
            <a:r>
              <a:rPr lang="en-US" sz="1200" dirty="0">
                <a:solidFill>
                  <a:srgbClr val="A9A9A0"/>
                </a:solidFill>
                <a:latin typeface="Calibri" pitchFamily="34" charset="0"/>
                <a:ea typeface="Calibri" pitchFamily="34" charset="-122"/>
                <a:cs typeface="Calibri" pitchFamily="34" charset="-120"/>
              </a:rPr>
              <a:t>Seven questions to ask any builder before paying a deposit</a:t>
            </a:r>
            <a:endParaRPr lang="en-US" sz="1200" dirty="0"/>
          </a:p>
          <a:p>
            <a:pPr marL="342900" indent="-342900">
              <a:lnSpc>
                <a:spcPct val="115000"/>
              </a:lnSpc>
              <a:spcAft>
                <a:spcPts val="800"/>
              </a:spcAft>
              <a:buSzPct val="100000"/>
              <a:buChar char="•"/>
            </a:pPr>
            <a:r>
              <a:rPr lang="en-US" sz="1200" dirty="0">
                <a:solidFill>
                  <a:srgbClr val="A9A9A0"/>
                </a:solidFill>
                <a:latin typeface="Calibri" pitchFamily="34" charset="0"/>
                <a:ea typeface="Calibri" pitchFamily="34" charset="-122"/>
                <a:cs typeface="Calibri" pitchFamily="34" charset="-120"/>
              </a:rPr>
              <a:t>A site-readiness checklist they can walk their land with</a:t>
            </a:r>
            <a:endParaRPr lang="en-US" sz="1200" dirty="0"/>
          </a:p>
        </p:txBody>
      </p:sp>
      <p:sp>
        <p:nvSpPr>
          <p:cNvPr id="8" name="Text 4"/>
          <p:cNvSpPr txBox="1"/>
          <p:nvPr/>
        </p:nvSpPr>
        <p:spPr>
          <a:xfrm>
            <a:off x="7040880" y="5257800"/>
            <a:ext cx="4389120" cy="731520"/>
          </a:xfrm>
          <a:prstGeom prst="rect">
            <a:avLst/>
          </a:prstGeom>
          <a:noFill/>
          <a:ln/>
        </p:spPr>
        <p:txBody>
          <a:bodyPr wrap="square" lIns="0" tIns="0" rIns="0" bIns="0" rtlCol="0" anchor="ctr"/>
          <a:lstStyle/>
          <a:p>
            <a:pPr indent="0" marL="0">
              <a:lnSpc>
                <a:spcPct val="118000"/>
              </a:lnSpc>
              <a:buNone/>
            </a:pPr>
            <a:r>
              <a:rPr lang="en-US" sz="1200" i="1" dirty="0">
                <a:solidFill>
                  <a:srgbClr val="C3FC0F"/>
                </a:solidFill>
                <a:latin typeface="Calibri" pitchFamily="34" charset="0"/>
                <a:ea typeface="Calibri" pitchFamily="34" charset="-122"/>
                <a:cs typeface="Calibri" pitchFamily="34" charset="-120"/>
              </a:rPr>
              <a:t>It also makes you the one who told them the truth — the position you want to hold when they finally choose a builder.</a:t>
            </a:r>
            <a:endParaRPr lang="en-US" sz="1200" dirty="0"/>
          </a:p>
        </p:txBody>
      </p:sp>
      <p:sp>
        <p:nvSpPr>
          <p:cNvPr id="9" name="Text 5"/>
          <p:cNvSpPr txBox="1"/>
          <p:nvPr/>
        </p:nvSpPr>
        <p:spPr>
          <a:xfrm>
            <a:off x="777240" y="6236208"/>
            <a:ext cx="5486400" cy="274320"/>
          </a:xfrm>
          <a:prstGeom prst="rect">
            <a:avLst/>
          </a:prstGeom>
          <a:noFill/>
          <a:ln/>
        </p:spPr>
        <p:txBody>
          <a:bodyPr wrap="square" lIns="0" tIns="0" rIns="0" bIns="0" rtlCol="0" anchor="ctr"/>
          <a:lstStyle/>
          <a:p>
            <a:pPr indent="0" marL="0">
              <a:buNone/>
            </a:pPr>
            <a:r>
              <a:rPr lang="en-US" sz="900" b="1" spc="220" kern="0" dirty="0">
                <a:solidFill>
                  <a:srgbClr val="8F8F86"/>
                </a:solidFill>
                <a:latin typeface="Arial" pitchFamily="34" charset="0"/>
                <a:ea typeface="Arial" pitchFamily="34" charset="-122"/>
                <a:cs typeface="Arial" pitchFamily="34" charset="-120"/>
              </a:rPr>
              <a:t>THE GUIDE</a:t>
            </a:r>
            <a:endParaRPr lang="en-US" sz="900" dirty="0"/>
          </a:p>
        </p:txBody>
      </p:sp>
      <p:sp>
        <p:nvSpPr>
          <p:cNvPr id="10" name="Text 6"/>
          <p:cNvSpPr txBox="1"/>
          <p:nvPr/>
        </p:nvSpPr>
        <p:spPr>
          <a:xfrm>
            <a:off x="8214055" y="6236208"/>
            <a:ext cx="3200400" cy="274320"/>
          </a:xfrm>
          <a:prstGeom prst="rect">
            <a:avLst/>
          </a:prstGeom>
          <a:noFill/>
          <a:ln/>
        </p:spPr>
        <p:txBody>
          <a:bodyPr wrap="square" lIns="0" tIns="0" rIns="0" bIns="0" rtlCol="0" anchor="ctr"/>
          <a:lstStyle/>
          <a:p>
            <a:pPr algn="r" indent="0" marL="0">
              <a:buNone/>
            </a:pPr>
            <a:r>
              <a:rPr lang="en-US" sz="900" b="1" spc="220" kern="0" dirty="0">
                <a:solidFill>
                  <a:srgbClr val="8F8F86"/>
                </a:solidFill>
                <a:latin typeface="Arial" pitchFamily="34" charset="0"/>
                <a:ea typeface="Arial" pitchFamily="34" charset="-122"/>
                <a:cs typeface="Arial" pitchFamily="34" charset="-120"/>
              </a:rPr>
              <a:t>YARDSCALE DIGITAL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8F4"/>
        </a:solidFill>
      </p:bgPr>
    </p:bg>
    <p:spTree>
      <p:nvGrpSpPr>
        <p:cNvPr id="1" name=""/>
        <p:cNvGrpSpPr/>
        <p:nvPr/>
      </p:nvGrpSpPr>
      <p:grpSpPr>
        <a:xfrm>
          <a:off x="0" y="0"/>
          <a:ext cx="0" cy="0"/>
          <a:chOff x="0" y="0"/>
          <a:chExt cx="0" cy="0"/>
        </a:xfrm>
      </p:grpSpPr>
      <p:sp>
        <p:nvSpPr>
          <p:cNvPr id="2" name="Shape 0"/>
          <p:cNvSpPr/>
          <p:nvPr/>
        </p:nvSpPr>
        <p:spPr>
          <a:xfrm>
            <a:off x="777240" y="635508"/>
            <a:ext cx="237744" cy="105156"/>
          </a:xfrm>
          <a:prstGeom prst="parallelogram">
            <a:avLst/>
          </a:prstGeom>
          <a:solidFill>
            <a:srgbClr val="C3FC0F"/>
          </a:solidFill>
          <a:ln/>
        </p:spPr>
      </p:sp>
      <p:sp>
        <p:nvSpPr>
          <p:cNvPr id="3" name="Text 1"/>
          <p:cNvSpPr txBox="1"/>
          <p:nvPr/>
        </p:nvSpPr>
        <p:spPr>
          <a:xfrm>
            <a:off x="0" y="566928"/>
            <a:ext cx="7315200" cy="256032"/>
          </a:xfrm>
          <a:prstGeom prst="rect">
            <a:avLst/>
          </a:prstGeom>
          <a:noFill/>
          <a:ln/>
        </p:spPr>
        <p:txBody>
          <a:bodyPr wrap="square" lIns="0" tIns="0" rIns="0" bIns="0" rtlCol="0" anchor="ctr"/>
          <a:lstStyle/>
          <a:p>
            <a:pPr algn="l" indent="0" marL="0">
              <a:buNone/>
            </a:pPr>
            <a:r>
              <a:rPr lang="en-US" sz="1000" b="1" spc="260" kern="0" dirty="0">
                <a:solidFill>
                  <a:srgbClr val="6B6B62"/>
                </a:solidFill>
                <a:latin typeface="Arial" pitchFamily="34" charset="0"/>
                <a:ea typeface="Arial" pitchFamily="34" charset="-122"/>
                <a:cs typeface="Arial" pitchFamily="34" charset="-120"/>
              </a:rPr>
              <a:t>HOW IT WORKS</a:t>
            </a:r>
            <a:endParaRPr lang="en-US" sz="1000" dirty="0"/>
          </a:p>
        </p:txBody>
      </p:sp>
      <p:sp>
        <p:nvSpPr>
          <p:cNvPr id="4" name="Text 2"/>
          <p:cNvSpPr txBox="1"/>
          <p:nvPr/>
        </p:nvSpPr>
        <p:spPr>
          <a:xfrm>
            <a:off x="777240" y="1051560"/>
            <a:ext cx="10058400" cy="640080"/>
          </a:xfrm>
          <a:prstGeom prst="rect">
            <a:avLst/>
          </a:prstGeom>
          <a:noFill/>
          <a:ln/>
        </p:spPr>
        <p:txBody>
          <a:bodyPr wrap="square" lIns="0" tIns="0" rIns="0" bIns="0" rtlCol="0" anchor="ctr"/>
          <a:lstStyle/>
          <a:p>
            <a:pPr indent="0" marL="0">
              <a:buNone/>
            </a:pPr>
            <a:r>
              <a:rPr lang="en-US" sz="3400" b="1" spc="-40" kern="0" dirty="0">
                <a:solidFill>
                  <a:srgbClr val="131313"/>
                </a:solidFill>
                <a:latin typeface="Arial" pitchFamily="34" charset="0"/>
                <a:ea typeface="Arial" pitchFamily="34" charset="-122"/>
                <a:cs typeface="Arial" pitchFamily="34" charset="-120"/>
              </a:rPr>
              <a:t>FROM STRANGER TO SITE VISIT.</a:t>
            </a:r>
            <a:endParaRPr lang="en-US" sz="3400" dirty="0"/>
          </a:p>
        </p:txBody>
      </p:sp>
      <p:sp>
        <p:nvSpPr>
          <p:cNvPr id="5" name="Shape 3"/>
          <p:cNvSpPr/>
          <p:nvPr/>
        </p:nvSpPr>
        <p:spPr>
          <a:xfrm>
            <a:off x="777240" y="2331720"/>
            <a:ext cx="1975104" cy="2514600"/>
          </a:xfrm>
          <a:prstGeom prst="rect">
            <a:avLst/>
          </a:prstGeom>
          <a:solidFill>
            <a:srgbClr val="FFFFFF"/>
          </a:solidFill>
          <a:ln w="9525">
            <a:solidFill>
              <a:srgbClr val="DEDBD2"/>
            </a:solidFill>
            <a:prstDash val="solid"/>
          </a:ln>
        </p:spPr>
      </p:sp>
      <p:sp>
        <p:nvSpPr>
          <p:cNvPr id="6" name="Text 4"/>
          <p:cNvSpPr txBox="1"/>
          <p:nvPr/>
        </p:nvSpPr>
        <p:spPr>
          <a:xfrm>
            <a:off x="1033272" y="2560320"/>
            <a:ext cx="1463040" cy="292608"/>
          </a:xfrm>
          <a:prstGeom prst="rect">
            <a:avLst/>
          </a:prstGeom>
          <a:noFill/>
          <a:ln/>
        </p:spPr>
        <p:txBody>
          <a:bodyPr wrap="square" lIns="0" tIns="0" rIns="0" bIns="0" rtlCol="0" anchor="ctr"/>
          <a:lstStyle/>
          <a:p>
            <a:pPr indent="0" marL="0">
              <a:buNone/>
            </a:pPr>
            <a:r>
              <a:rPr lang="en-US" sz="1000" b="1" spc="220" kern="0" dirty="0">
                <a:solidFill>
                  <a:srgbClr val="6B6B62"/>
                </a:solidFill>
                <a:latin typeface="Arial" pitchFamily="34" charset="0"/>
                <a:ea typeface="Arial" pitchFamily="34" charset="-122"/>
                <a:cs typeface="Arial" pitchFamily="34" charset="-120"/>
              </a:rPr>
              <a:t>01</a:t>
            </a:r>
            <a:endParaRPr lang="en-US" sz="1000" dirty="0"/>
          </a:p>
        </p:txBody>
      </p:sp>
      <p:sp>
        <p:nvSpPr>
          <p:cNvPr id="7" name="Text 5"/>
          <p:cNvSpPr txBox="1"/>
          <p:nvPr/>
        </p:nvSpPr>
        <p:spPr>
          <a:xfrm>
            <a:off x="1033272" y="2926080"/>
            <a:ext cx="1554480" cy="548640"/>
          </a:xfrm>
          <a:prstGeom prst="rect">
            <a:avLst/>
          </a:prstGeom>
          <a:noFill/>
          <a:ln/>
        </p:spPr>
        <p:txBody>
          <a:bodyPr wrap="square" lIns="0" tIns="0" rIns="0" bIns="0" rtlCol="0" anchor="ctr"/>
          <a:lstStyle/>
          <a:p>
            <a:pPr indent="0" marL="0">
              <a:lnSpc>
                <a:spcPct val="98000"/>
              </a:lnSpc>
              <a:buNone/>
            </a:pPr>
            <a:r>
              <a:rPr lang="en-US" sz="1400" b="1" dirty="0">
                <a:solidFill>
                  <a:srgbClr val="131313"/>
                </a:solidFill>
                <a:latin typeface="Arial" pitchFamily="34" charset="0"/>
                <a:ea typeface="Arial" pitchFamily="34" charset="-122"/>
                <a:cs typeface="Arial" pitchFamily="34" charset="-120"/>
              </a:rPr>
              <a:t>Finds you</a:t>
            </a:r>
            <a:endParaRPr lang="en-US" sz="1400" dirty="0"/>
          </a:p>
        </p:txBody>
      </p:sp>
      <p:sp>
        <p:nvSpPr>
          <p:cNvPr id="8" name="Text 6"/>
          <p:cNvSpPr txBox="1"/>
          <p:nvPr/>
        </p:nvSpPr>
        <p:spPr>
          <a:xfrm>
            <a:off x="1033272" y="3520440"/>
            <a:ext cx="1554480" cy="1188720"/>
          </a:xfrm>
          <a:prstGeom prst="rect">
            <a:avLst/>
          </a:prstGeom>
          <a:noFill/>
          <a:ln/>
        </p:spPr>
        <p:txBody>
          <a:bodyPr wrap="square" lIns="0" tIns="0" rIns="0" bIns="0" rtlCol="0" anchor="ctr"/>
          <a:lstStyle/>
          <a:p>
            <a:pPr indent="0" marL="0">
              <a:lnSpc>
                <a:spcPct val="118000"/>
              </a:lnSpc>
              <a:buNone/>
            </a:pPr>
            <a:r>
              <a:rPr lang="en-US" sz="1050" dirty="0">
                <a:solidFill>
                  <a:srgbClr val="6B6B62"/>
                </a:solidFill>
                <a:latin typeface="Calibri" pitchFamily="34" charset="0"/>
                <a:ea typeface="Calibri" pitchFamily="34" charset="-122"/>
                <a:cs typeface="Calibri" pitchFamily="34" charset="-120"/>
              </a:rPr>
              <a:t>Search, a shared link, or your social bio — all now pointing somewhere that sells.</a:t>
            </a:r>
            <a:endParaRPr lang="en-US" sz="1050" dirty="0"/>
          </a:p>
        </p:txBody>
      </p:sp>
      <p:sp>
        <p:nvSpPr>
          <p:cNvPr id="9" name="Shape 7"/>
          <p:cNvSpPr/>
          <p:nvPr/>
        </p:nvSpPr>
        <p:spPr>
          <a:xfrm>
            <a:off x="2788920" y="3493008"/>
            <a:ext cx="182880" cy="182880"/>
          </a:xfrm>
          <a:prstGeom prst="chevron">
            <a:avLst/>
          </a:prstGeom>
          <a:solidFill>
            <a:srgbClr val="C3FC0F"/>
          </a:solidFill>
          <a:ln/>
        </p:spPr>
      </p:sp>
      <p:sp>
        <p:nvSpPr>
          <p:cNvPr id="10" name="Shape 8"/>
          <p:cNvSpPr/>
          <p:nvPr/>
        </p:nvSpPr>
        <p:spPr>
          <a:xfrm>
            <a:off x="2990088" y="2331720"/>
            <a:ext cx="1975104" cy="2514600"/>
          </a:xfrm>
          <a:prstGeom prst="rect">
            <a:avLst/>
          </a:prstGeom>
          <a:solidFill>
            <a:srgbClr val="FFFFFF"/>
          </a:solidFill>
          <a:ln w="9525">
            <a:solidFill>
              <a:srgbClr val="DEDBD2"/>
            </a:solidFill>
            <a:prstDash val="solid"/>
          </a:ln>
        </p:spPr>
      </p:sp>
      <p:sp>
        <p:nvSpPr>
          <p:cNvPr id="11" name="Text 9"/>
          <p:cNvSpPr txBox="1"/>
          <p:nvPr/>
        </p:nvSpPr>
        <p:spPr>
          <a:xfrm>
            <a:off x="3246120" y="2560320"/>
            <a:ext cx="1463040" cy="292608"/>
          </a:xfrm>
          <a:prstGeom prst="rect">
            <a:avLst/>
          </a:prstGeom>
          <a:noFill/>
          <a:ln/>
        </p:spPr>
        <p:txBody>
          <a:bodyPr wrap="square" lIns="0" tIns="0" rIns="0" bIns="0" rtlCol="0" anchor="ctr"/>
          <a:lstStyle/>
          <a:p>
            <a:pPr indent="0" marL="0">
              <a:buNone/>
            </a:pPr>
            <a:r>
              <a:rPr lang="en-US" sz="1000" b="1" spc="220" kern="0" dirty="0">
                <a:solidFill>
                  <a:srgbClr val="6B6B62"/>
                </a:solidFill>
                <a:latin typeface="Arial" pitchFamily="34" charset="0"/>
                <a:ea typeface="Arial" pitchFamily="34" charset="-122"/>
                <a:cs typeface="Arial" pitchFamily="34" charset="-120"/>
              </a:rPr>
              <a:t>02</a:t>
            </a:r>
            <a:endParaRPr lang="en-US" sz="1000" dirty="0"/>
          </a:p>
        </p:txBody>
      </p:sp>
      <p:sp>
        <p:nvSpPr>
          <p:cNvPr id="12" name="Text 10"/>
          <p:cNvSpPr txBox="1"/>
          <p:nvPr/>
        </p:nvSpPr>
        <p:spPr>
          <a:xfrm>
            <a:off x="3246120" y="2926080"/>
            <a:ext cx="1554480" cy="548640"/>
          </a:xfrm>
          <a:prstGeom prst="rect">
            <a:avLst/>
          </a:prstGeom>
          <a:noFill/>
          <a:ln/>
        </p:spPr>
        <p:txBody>
          <a:bodyPr wrap="square" lIns="0" tIns="0" rIns="0" bIns="0" rtlCol="0" anchor="ctr"/>
          <a:lstStyle/>
          <a:p>
            <a:pPr indent="0" marL="0">
              <a:lnSpc>
                <a:spcPct val="98000"/>
              </a:lnSpc>
              <a:buNone/>
            </a:pPr>
            <a:r>
              <a:rPr lang="en-US" sz="1400" b="1" dirty="0">
                <a:solidFill>
                  <a:srgbClr val="131313"/>
                </a:solidFill>
                <a:latin typeface="Arial" pitchFamily="34" charset="0"/>
                <a:ea typeface="Arial" pitchFamily="34" charset="-122"/>
                <a:cs typeface="Arial" pitchFamily="34" charset="-120"/>
              </a:rPr>
              <a:t>Reads the site</a:t>
            </a:r>
            <a:endParaRPr lang="en-US" sz="1400" dirty="0"/>
          </a:p>
        </p:txBody>
      </p:sp>
      <p:sp>
        <p:nvSpPr>
          <p:cNvPr id="13" name="Text 11"/>
          <p:cNvSpPr txBox="1"/>
          <p:nvPr/>
        </p:nvSpPr>
        <p:spPr>
          <a:xfrm>
            <a:off x="3246120" y="3520440"/>
            <a:ext cx="1554480" cy="1188720"/>
          </a:xfrm>
          <a:prstGeom prst="rect">
            <a:avLst/>
          </a:prstGeom>
          <a:noFill/>
          <a:ln/>
        </p:spPr>
        <p:txBody>
          <a:bodyPr wrap="square" lIns="0" tIns="0" rIns="0" bIns="0" rtlCol="0" anchor="ctr"/>
          <a:lstStyle/>
          <a:p>
            <a:pPr indent="0" marL="0">
              <a:lnSpc>
                <a:spcPct val="118000"/>
              </a:lnSpc>
              <a:buNone/>
            </a:pPr>
            <a:r>
              <a:rPr lang="en-US" sz="1050" dirty="0">
                <a:solidFill>
                  <a:srgbClr val="6B6B62"/>
                </a:solidFill>
                <a:latin typeface="Calibri" pitchFamily="34" charset="0"/>
                <a:ea typeface="Calibri" pitchFamily="34" charset="-122"/>
                <a:cs typeface="Calibri" pitchFamily="34" charset="-120"/>
              </a:rPr>
              <a:t>Models, prices, process and engineering. Most objections answered before contact.</a:t>
            </a:r>
            <a:endParaRPr lang="en-US" sz="1050" dirty="0"/>
          </a:p>
        </p:txBody>
      </p:sp>
      <p:sp>
        <p:nvSpPr>
          <p:cNvPr id="14" name="Shape 12"/>
          <p:cNvSpPr/>
          <p:nvPr/>
        </p:nvSpPr>
        <p:spPr>
          <a:xfrm>
            <a:off x="5001768" y="3493008"/>
            <a:ext cx="182880" cy="182880"/>
          </a:xfrm>
          <a:prstGeom prst="chevron">
            <a:avLst/>
          </a:prstGeom>
          <a:solidFill>
            <a:srgbClr val="C3FC0F"/>
          </a:solidFill>
          <a:ln/>
        </p:spPr>
      </p:sp>
      <p:sp>
        <p:nvSpPr>
          <p:cNvPr id="15" name="Shape 13"/>
          <p:cNvSpPr/>
          <p:nvPr/>
        </p:nvSpPr>
        <p:spPr>
          <a:xfrm>
            <a:off x="5202936" y="2331720"/>
            <a:ext cx="1975104" cy="2514600"/>
          </a:xfrm>
          <a:prstGeom prst="rect">
            <a:avLst/>
          </a:prstGeom>
          <a:solidFill>
            <a:srgbClr val="FFFFFF"/>
          </a:solidFill>
          <a:ln w="9525">
            <a:solidFill>
              <a:srgbClr val="DEDBD2"/>
            </a:solidFill>
            <a:prstDash val="solid"/>
          </a:ln>
        </p:spPr>
      </p:sp>
      <p:sp>
        <p:nvSpPr>
          <p:cNvPr id="16" name="Text 14"/>
          <p:cNvSpPr txBox="1"/>
          <p:nvPr/>
        </p:nvSpPr>
        <p:spPr>
          <a:xfrm>
            <a:off x="5458968" y="2560320"/>
            <a:ext cx="1463040" cy="292608"/>
          </a:xfrm>
          <a:prstGeom prst="rect">
            <a:avLst/>
          </a:prstGeom>
          <a:noFill/>
          <a:ln/>
        </p:spPr>
        <p:txBody>
          <a:bodyPr wrap="square" lIns="0" tIns="0" rIns="0" bIns="0" rtlCol="0" anchor="ctr"/>
          <a:lstStyle/>
          <a:p>
            <a:pPr indent="0" marL="0">
              <a:buNone/>
            </a:pPr>
            <a:r>
              <a:rPr lang="en-US" sz="1000" b="1" spc="220" kern="0" dirty="0">
                <a:solidFill>
                  <a:srgbClr val="6B6B62"/>
                </a:solidFill>
                <a:latin typeface="Arial" pitchFamily="34" charset="0"/>
                <a:ea typeface="Arial" pitchFamily="34" charset="-122"/>
                <a:cs typeface="Arial" pitchFamily="34" charset="-120"/>
              </a:rPr>
              <a:t>03</a:t>
            </a:r>
            <a:endParaRPr lang="en-US" sz="1000" dirty="0"/>
          </a:p>
        </p:txBody>
      </p:sp>
      <p:sp>
        <p:nvSpPr>
          <p:cNvPr id="17" name="Text 15"/>
          <p:cNvSpPr txBox="1"/>
          <p:nvPr/>
        </p:nvSpPr>
        <p:spPr>
          <a:xfrm>
            <a:off x="5458968" y="2926080"/>
            <a:ext cx="1554480" cy="548640"/>
          </a:xfrm>
          <a:prstGeom prst="rect">
            <a:avLst/>
          </a:prstGeom>
          <a:noFill/>
          <a:ln/>
        </p:spPr>
        <p:txBody>
          <a:bodyPr wrap="square" lIns="0" tIns="0" rIns="0" bIns="0" rtlCol="0" anchor="ctr"/>
          <a:lstStyle/>
          <a:p>
            <a:pPr indent="0" marL="0">
              <a:lnSpc>
                <a:spcPct val="98000"/>
              </a:lnSpc>
              <a:buNone/>
            </a:pPr>
            <a:r>
              <a:rPr lang="en-US" sz="1400" b="1" dirty="0">
                <a:solidFill>
                  <a:srgbClr val="131313"/>
                </a:solidFill>
                <a:latin typeface="Arial" pitchFamily="34" charset="0"/>
                <a:ea typeface="Arial" pitchFamily="34" charset="-122"/>
                <a:cs typeface="Arial" pitchFamily="34" charset="-120"/>
              </a:rPr>
              <a:t>Takes the guide</a:t>
            </a:r>
            <a:endParaRPr lang="en-US" sz="1400" dirty="0"/>
          </a:p>
        </p:txBody>
      </p:sp>
      <p:sp>
        <p:nvSpPr>
          <p:cNvPr id="18" name="Text 16"/>
          <p:cNvSpPr txBox="1"/>
          <p:nvPr/>
        </p:nvSpPr>
        <p:spPr>
          <a:xfrm>
            <a:off x="5458968" y="3520440"/>
            <a:ext cx="1554480" cy="1188720"/>
          </a:xfrm>
          <a:prstGeom prst="rect">
            <a:avLst/>
          </a:prstGeom>
          <a:noFill/>
          <a:ln/>
        </p:spPr>
        <p:txBody>
          <a:bodyPr wrap="square" lIns="0" tIns="0" rIns="0" bIns="0" rtlCol="0" anchor="ctr"/>
          <a:lstStyle/>
          <a:p>
            <a:pPr indent="0" marL="0">
              <a:lnSpc>
                <a:spcPct val="118000"/>
              </a:lnSpc>
              <a:buNone/>
            </a:pPr>
            <a:r>
              <a:rPr lang="en-US" sz="1050" dirty="0">
                <a:solidFill>
                  <a:srgbClr val="6B6B62"/>
                </a:solidFill>
                <a:latin typeface="Calibri" pitchFamily="34" charset="0"/>
                <a:ea typeface="Calibri" pitchFamily="34" charset="-122"/>
                <a:cs typeface="Calibri" pitchFamily="34" charset="-120"/>
              </a:rPr>
              <a:t>Not ready to buy, but happy to swap an email for something genuinely useful.</a:t>
            </a:r>
            <a:endParaRPr lang="en-US" sz="1050" dirty="0"/>
          </a:p>
        </p:txBody>
      </p:sp>
      <p:sp>
        <p:nvSpPr>
          <p:cNvPr id="19" name="Shape 17"/>
          <p:cNvSpPr/>
          <p:nvPr/>
        </p:nvSpPr>
        <p:spPr>
          <a:xfrm>
            <a:off x="7214616" y="3493008"/>
            <a:ext cx="182880" cy="182880"/>
          </a:xfrm>
          <a:prstGeom prst="chevron">
            <a:avLst/>
          </a:prstGeom>
          <a:solidFill>
            <a:srgbClr val="C3FC0F"/>
          </a:solidFill>
          <a:ln/>
        </p:spPr>
      </p:sp>
      <p:sp>
        <p:nvSpPr>
          <p:cNvPr id="20" name="Shape 18"/>
          <p:cNvSpPr/>
          <p:nvPr/>
        </p:nvSpPr>
        <p:spPr>
          <a:xfrm>
            <a:off x="7415784" y="2331720"/>
            <a:ext cx="1975104" cy="2514600"/>
          </a:xfrm>
          <a:prstGeom prst="rect">
            <a:avLst/>
          </a:prstGeom>
          <a:solidFill>
            <a:srgbClr val="FFFFFF"/>
          </a:solidFill>
          <a:ln w="9525">
            <a:solidFill>
              <a:srgbClr val="DEDBD2"/>
            </a:solidFill>
            <a:prstDash val="solid"/>
          </a:ln>
        </p:spPr>
      </p:sp>
      <p:sp>
        <p:nvSpPr>
          <p:cNvPr id="21" name="Text 19"/>
          <p:cNvSpPr txBox="1"/>
          <p:nvPr/>
        </p:nvSpPr>
        <p:spPr>
          <a:xfrm>
            <a:off x="7671816" y="2560320"/>
            <a:ext cx="1463040" cy="292608"/>
          </a:xfrm>
          <a:prstGeom prst="rect">
            <a:avLst/>
          </a:prstGeom>
          <a:noFill/>
          <a:ln/>
        </p:spPr>
        <p:txBody>
          <a:bodyPr wrap="square" lIns="0" tIns="0" rIns="0" bIns="0" rtlCol="0" anchor="ctr"/>
          <a:lstStyle/>
          <a:p>
            <a:pPr indent="0" marL="0">
              <a:buNone/>
            </a:pPr>
            <a:r>
              <a:rPr lang="en-US" sz="1000" b="1" spc="220" kern="0" dirty="0">
                <a:solidFill>
                  <a:srgbClr val="6B6B62"/>
                </a:solidFill>
                <a:latin typeface="Arial" pitchFamily="34" charset="0"/>
                <a:ea typeface="Arial" pitchFamily="34" charset="-122"/>
                <a:cs typeface="Arial" pitchFamily="34" charset="-120"/>
              </a:rPr>
              <a:t>04</a:t>
            </a:r>
            <a:endParaRPr lang="en-US" sz="1000" dirty="0"/>
          </a:p>
        </p:txBody>
      </p:sp>
      <p:sp>
        <p:nvSpPr>
          <p:cNvPr id="22" name="Text 20"/>
          <p:cNvSpPr txBox="1"/>
          <p:nvPr/>
        </p:nvSpPr>
        <p:spPr>
          <a:xfrm>
            <a:off x="7671816" y="2926080"/>
            <a:ext cx="1554480" cy="548640"/>
          </a:xfrm>
          <a:prstGeom prst="rect">
            <a:avLst/>
          </a:prstGeom>
          <a:noFill/>
          <a:ln/>
        </p:spPr>
        <p:txBody>
          <a:bodyPr wrap="square" lIns="0" tIns="0" rIns="0" bIns="0" rtlCol="0" anchor="ctr"/>
          <a:lstStyle/>
          <a:p>
            <a:pPr indent="0" marL="0">
              <a:lnSpc>
                <a:spcPct val="98000"/>
              </a:lnSpc>
              <a:buNone/>
            </a:pPr>
            <a:r>
              <a:rPr lang="en-US" sz="1400" b="1" dirty="0">
                <a:solidFill>
                  <a:srgbClr val="131313"/>
                </a:solidFill>
                <a:latin typeface="Arial" pitchFamily="34" charset="0"/>
                <a:ea typeface="Arial" pitchFamily="34" charset="-122"/>
                <a:cs typeface="Arial" pitchFamily="34" charset="-120"/>
              </a:rPr>
              <a:t>Gets nurtured</a:t>
            </a:r>
            <a:endParaRPr lang="en-US" sz="1400" dirty="0"/>
          </a:p>
        </p:txBody>
      </p:sp>
      <p:sp>
        <p:nvSpPr>
          <p:cNvPr id="23" name="Text 21"/>
          <p:cNvSpPr txBox="1"/>
          <p:nvPr/>
        </p:nvSpPr>
        <p:spPr>
          <a:xfrm>
            <a:off x="7671816" y="3520440"/>
            <a:ext cx="1554480" cy="1188720"/>
          </a:xfrm>
          <a:prstGeom prst="rect">
            <a:avLst/>
          </a:prstGeom>
          <a:noFill/>
          <a:ln/>
        </p:spPr>
        <p:txBody>
          <a:bodyPr wrap="square" lIns="0" tIns="0" rIns="0" bIns="0" rtlCol="0" anchor="ctr"/>
          <a:lstStyle/>
          <a:p>
            <a:pPr indent="0" marL="0">
              <a:lnSpc>
                <a:spcPct val="118000"/>
              </a:lnSpc>
              <a:buNone/>
            </a:pPr>
            <a:r>
              <a:rPr lang="en-US" sz="1050" dirty="0">
                <a:solidFill>
                  <a:srgbClr val="6B6B62"/>
                </a:solidFill>
                <a:latin typeface="Calibri" pitchFamily="34" charset="0"/>
                <a:ea typeface="Calibri" pitchFamily="34" charset="-122"/>
                <a:cs typeface="Calibri" pitchFamily="34" charset="-120"/>
              </a:rPr>
              <a:t>You now own the relationship, and can stay in touch until they are ready.</a:t>
            </a:r>
            <a:endParaRPr lang="en-US" sz="1050" dirty="0"/>
          </a:p>
        </p:txBody>
      </p:sp>
      <p:sp>
        <p:nvSpPr>
          <p:cNvPr id="24" name="Shape 22"/>
          <p:cNvSpPr/>
          <p:nvPr/>
        </p:nvSpPr>
        <p:spPr>
          <a:xfrm>
            <a:off x="9427464" y="3493008"/>
            <a:ext cx="182880" cy="182880"/>
          </a:xfrm>
          <a:prstGeom prst="chevron">
            <a:avLst/>
          </a:prstGeom>
          <a:solidFill>
            <a:srgbClr val="C3FC0F"/>
          </a:solidFill>
          <a:ln/>
        </p:spPr>
      </p:sp>
      <p:sp>
        <p:nvSpPr>
          <p:cNvPr id="25" name="Shape 23"/>
          <p:cNvSpPr/>
          <p:nvPr/>
        </p:nvSpPr>
        <p:spPr>
          <a:xfrm>
            <a:off x="9628632" y="2331720"/>
            <a:ext cx="1975104" cy="2514600"/>
          </a:xfrm>
          <a:prstGeom prst="rect">
            <a:avLst/>
          </a:prstGeom>
          <a:solidFill>
            <a:srgbClr val="131313"/>
          </a:solidFill>
          <a:ln w="9525">
            <a:solidFill>
              <a:srgbClr val="131313"/>
            </a:solidFill>
            <a:prstDash val="solid"/>
          </a:ln>
        </p:spPr>
      </p:sp>
      <p:sp>
        <p:nvSpPr>
          <p:cNvPr id="26" name="Text 24"/>
          <p:cNvSpPr txBox="1"/>
          <p:nvPr/>
        </p:nvSpPr>
        <p:spPr>
          <a:xfrm>
            <a:off x="9884664" y="2560320"/>
            <a:ext cx="1463040" cy="292608"/>
          </a:xfrm>
          <a:prstGeom prst="rect">
            <a:avLst/>
          </a:prstGeom>
          <a:noFill/>
          <a:ln/>
        </p:spPr>
        <p:txBody>
          <a:bodyPr wrap="square" lIns="0" tIns="0" rIns="0" bIns="0" rtlCol="0" anchor="ctr"/>
          <a:lstStyle/>
          <a:p>
            <a:pPr indent="0" marL="0">
              <a:buNone/>
            </a:pPr>
            <a:r>
              <a:rPr lang="en-US" sz="1000" b="1" spc="220" kern="0" dirty="0">
                <a:solidFill>
                  <a:srgbClr val="C3FC0F"/>
                </a:solidFill>
                <a:latin typeface="Arial" pitchFamily="34" charset="0"/>
                <a:ea typeface="Arial" pitchFamily="34" charset="-122"/>
                <a:cs typeface="Arial" pitchFamily="34" charset="-120"/>
              </a:rPr>
              <a:t>05</a:t>
            </a:r>
            <a:endParaRPr lang="en-US" sz="1000" dirty="0"/>
          </a:p>
        </p:txBody>
      </p:sp>
      <p:sp>
        <p:nvSpPr>
          <p:cNvPr id="27" name="Text 25"/>
          <p:cNvSpPr txBox="1"/>
          <p:nvPr/>
        </p:nvSpPr>
        <p:spPr>
          <a:xfrm>
            <a:off x="9884664" y="2926080"/>
            <a:ext cx="1554480" cy="548640"/>
          </a:xfrm>
          <a:prstGeom prst="rect">
            <a:avLst/>
          </a:prstGeom>
          <a:noFill/>
          <a:ln/>
        </p:spPr>
        <p:txBody>
          <a:bodyPr wrap="square" lIns="0" tIns="0" rIns="0" bIns="0" rtlCol="0" anchor="ctr"/>
          <a:lstStyle/>
          <a:p>
            <a:pPr indent="0" marL="0">
              <a:lnSpc>
                <a:spcPct val="98000"/>
              </a:lnSpc>
              <a:buNone/>
            </a:pPr>
            <a:r>
              <a:rPr lang="en-US" sz="1400" b="1" dirty="0">
                <a:solidFill>
                  <a:srgbClr val="F9F8F4"/>
                </a:solidFill>
                <a:latin typeface="Arial" pitchFamily="34" charset="0"/>
                <a:ea typeface="Arial" pitchFamily="34" charset="-122"/>
                <a:cs typeface="Arial" pitchFamily="34" charset="-120"/>
              </a:rPr>
              <a:t>Books a viewing</a:t>
            </a:r>
            <a:endParaRPr lang="en-US" sz="1400" dirty="0"/>
          </a:p>
        </p:txBody>
      </p:sp>
      <p:sp>
        <p:nvSpPr>
          <p:cNvPr id="28" name="Text 26"/>
          <p:cNvSpPr txBox="1"/>
          <p:nvPr/>
        </p:nvSpPr>
        <p:spPr>
          <a:xfrm>
            <a:off x="9884664" y="3520440"/>
            <a:ext cx="1554480" cy="1188720"/>
          </a:xfrm>
          <a:prstGeom prst="rect">
            <a:avLst/>
          </a:prstGeom>
          <a:noFill/>
          <a:ln/>
        </p:spPr>
        <p:txBody>
          <a:bodyPr wrap="square" lIns="0" tIns="0" rIns="0" bIns="0" rtlCol="0" anchor="ctr"/>
          <a:lstStyle/>
          <a:p>
            <a:pPr indent="0" marL="0">
              <a:lnSpc>
                <a:spcPct val="118000"/>
              </a:lnSpc>
              <a:buNone/>
            </a:pPr>
            <a:r>
              <a:rPr lang="en-US" sz="1050" dirty="0">
                <a:solidFill>
                  <a:srgbClr val="A9A9A0"/>
                </a:solidFill>
                <a:latin typeface="Calibri" pitchFamily="34" charset="0"/>
                <a:ea typeface="Calibri" pitchFamily="34" charset="-122"/>
                <a:cs typeface="Calibri" pitchFamily="34" charset="-120"/>
              </a:rPr>
              <a:t>Arrives warm, informed, and already comfortable with the price.</a:t>
            </a:r>
            <a:endParaRPr lang="en-US" sz="1050" dirty="0"/>
          </a:p>
        </p:txBody>
      </p:sp>
      <p:sp>
        <p:nvSpPr>
          <p:cNvPr id="29" name="Text 27"/>
          <p:cNvSpPr txBox="1"/>
          <p:nvPr/>
        </p:nvSpPr>
        <p:spPr>
          <a:xfrm>
            <a:off x="777240" y="5138928"/>
            <a:ext cx="10607040" cy="548640"/>
          </a:xfrm>
          <a:prstGeom prst="rect">
            <a:avLst/>
          </a:prstGeom>
          <a:noFill/>
          <a:ln/>
        </p:spPr>
        <p:txBody>
          <a:bodyPr wrap="square" lIns="0" tIns="0" rIns="0" bIns="0" rtlCol="0" anchor="ctr"/>
          <a:lstStyle/>
          <a:p>
            <a:pPr indent="0" marL="0">
              <a:buNone/>
            </a:pPr>
            <a:r>
              <a:rPr lang="en-US" sz="1400" i="1" dirty="0">
                <a:solidFill>
                  <a:srgbClr val="131313"/>
                </a:solidFill>
                <a:latin typeface="Calibri" pitchFamily="34" charset="0"/>
                <a:ea typeface="Calibri" pitchFamily="34" charset="-122"/>
                <a:cs typeface="Calibri" pitchFamily="34" charset="-120"/>
              </a:rPr>
              <a:t>The step most builders skip is the third one. It is the only one that turns traffic you already have into a list you own.</a:t>
            </a:r>
            <a:endParaRPr lang="en-US" sz="1400" dirty="0"/>
          </a:p>
        </p:txBody>
      </p:sp>
      <p:sp>
        <p:nvSpPr>
          <p:cNvPr id="30" name="Text 28"/>
          <p:cNvSpPr txBox="1"/>
          <p:nvPr/>
        </p:nvSpPr>
        <p:spPr>
          <a:xfrm>
            <a:off x="777240" y="6236208"/>
            <a:ext cx="5486400" cy="274320"/>
          </a:xfrm>
          <a:prstGeom prst="rect">
            <a:avLst/>
          </a:prstGeom>
          <a:noFill/>
          <a:ln/>
        </p:spPr>
        <p:txBody>
          <a:bodyPr wrap="square" lIns="0" tIns="0" rIns="0" bIns="0" rtlCol="0" anchor="ctr"/>
          <a:lstStyle/>
          <a:p>
            <a:pPr indent="0" marL="0">
              <a:buNone/>
            </a:pPr>
            <a:r>
              <a:rPr lang="en-US" sz="900" b="1" spc="220" kern="0" dirty="0">
                <a:solidFill>
                  <a:srgbClr val="6B6B62"/>
                </a:solidFill>
                <a:latin typeface="Arial" pitchFamily="34" charset="0"/>
                <a:ea typeface="Arial" pitchFamily="34" charset="-122"/>
                <a:cs typeface="Arial" pitchFamily="34" charset="-120"/>
              </a:rPr>
              <a:t>THE FUNNEL</a:t>
            </a:r>
            <a:endParaRPr lang="en-US" sz="900" dirty="0"/>
          </a:p>
        </p:txBody>
      </p:sp>
      <p:sp>
        <p:nvSpPr>
          <p:cNvPr id="31" name="Text 29"/>
          <p:cNvSpPr txBox="1"/>
          <p:nvPr/>
        </p:nvSpPr>
        <p:spPr>
          <a:xfrm>
            <a:off x="8214055" y="6236208"/>
            <a:ext cx="3200400" cy="274320"/>
          </a:xfrm>
          <a:prstGeom prst="rect">
            <a:avLst/>
          </a:prstGeom>
          <a:noFill/>
          <a:ln/>
        </p:spPr>
        <p:txBody>
          <a:bodyPr wrap="square" lIns="0" tIns="0" rIns="0" bIns="0" rtlCol="0" anchor="ctr"/>
          <a:lstStyle/>
          <a:p>
            <a:pPr algn="r" indent="0" marL="0">
              <a:buNone/>
            </a:pPr>
            <a:r>
              <a:rPr lang="en-US" sz="900" b="1" spc="220" kern="0" dirty="0">
                <a:solidFill>
                  <a:srgbClr val="6B6B62"/>
                </a:solidFill>
                <a:latin typeface="Arial" pitchFamily="34" charset="0"/>
                <a:ea typeface="Arial" pitchFamily="34" charset="-122"/>
                <a:cs typeface="Arial" pitchFamily="34" charset="-120"/>
              </a:rPr>
              <a:t>YARDSCALE DIGITAL</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1313"/>
        </a:solidFill>
      </p:bgPr>
    </p:bg>
    <p:spTree>
      <p:nvGrpSpPr>
        <p:cNvPr id="1" name=""/>
        <p:cNvGrpSpPr/>
        <p:nvPr/>
      </p:nvGrpSpPr>
      <p:grpSpPr>
        <a:xfrm>
          <a:off x="0" y="0"/>
          <a:ext cx="0" cy="0"/>
          <a:chOff x="0" y="0"/>
          <a:chExt cx="0" cy="0"/>
        </a:xfrm>
      </p:grpSpPr>
      <p:sp>
        <p:nvSpPr>
          <p:cNvPr id="2" name="Shape 0"/>
          <p:cNvSpPr/>
          <p:nvPr/>
        </p:nvSpPr>
        <p:spPr>
          <a:xfrm>
            <a:off x="777240" y="635508"/>
            <a:ext cx="237744" cy="105156"/>
          </a:xfrm>
          <a:prstGeom prst="parallelogram">
            <a:avLst/>
          </a:prstGeom>
          <a:solidFill>
            <a:srgbClr val="C3FC0F"/>
          </a:solidFill>
          <a:ln/>
        </p:spPr>
      </p:sp>
      <p:sp>
        <p:nvSpPr>
          <p:cNvPr id="3" name="Text 1"/>
          <p:cNvSpPr txBox="1"/>
          <p:nvPr/>
        </p:nvSpPr>
        <p:spPr>
          <a:xfrm>
            <a:off x="1161288" y="566928"/>
            <a:ext cx="7315200" cy="256032"/>
          </a:xfrm>
          <a:prstGeom prst="rect">
            <a:avLst/>
          </a:prstGeom>
          <a:noFill/>
          <a:ln/>
        </p:spPr>
        <p:txBody>
          <a:bodyPr wrap="square" lIns="0" tIns="0" rIns="0" bIns="0" rtlCol="0" anchor="ctr"/>
          <a:lstStyle/>
          <a:p>
            <a:pPr algn="l" indent="0" marL="0">
              <a:buNone/>
            </a:pPr>
            <a:r>
              <a:rPr lang="en-US" sz="1000" b="1" spc="260" kern="0" dirty="0">
                <a:solidFill>
                  <a:srgbClr val="8F8F86"/>
                </a:solidFill>
                <a:latin typeface="Arial" pitchFamily="34" charset="0"/>
                <a:ea typeface="Arial" pitchFamily="34" charset="-122"/>
                <a:cs typeface="Arial" pitchFamily="34" charset="-120"/>
              </a:rPr>
              <a:t>TIMELINE</a:t>
            </a:r>
            <a:endParaRPr lang="en-US" sz="1000" dirty="0"/>
          </a:p>
        </p:txBody>
      </p:sp>
      <p:sp>
        <p:nvSpPr>
          <p:cNvPr id="4" name="Text 2"/>
          <p:cNvSpPr txBox="1"/>
          <p:nvPr/>
        </p:nvSpPr>
        <p:spPr>
          <a:xfrm>
            <a:off x="777240" y="1051560"/>
            <a:ext cx="10058400" cy="640080"/>
          </a:xfrm>
          <a:prstGeom prst="rect">
            <a:avLst/>
          </a:prstGeom>
          <a:noFill/>
          <a:ln/>
        </p:spPr>
        <p:txBody>
          <a:bodyPr wrap="square" lIns="0" tIns="0" rIns="0" bIns="0" rtlCol="0" anchor="ctr"/>
          <a:lstStyle/>
          <a:p>
            <a:pPr indent="0" marL="0">
              <a:buNone/>
            </a:pPr>
            <a:r>
              <a:rPr lang="en-US" sz="3200" b="1" spc="-40" kern="0" dirty="0">
                <a:solidFill>
                  <a:srgbClr val="F9F8F4"/>
                </a:solidFill>
                <a:latin typeface="Arial" pitchFamily="34" charset="0"/>
                <a:ea typeface="Arial" pitchFamily="34" charset="-122"/>
                <a:cs typeface="Arial" pitchFamily="34" charset="-120"/>
              </a:rPr>
              <a:t>THREE WEEKS, START TO LIVE.</a:t>
            </a:r>
            <a:endParaRPr lang="en-US" sz="3200" dirty="0"/>
          </a:p>
        </p:txBody>
      </p:sp>
      <p:sp>
        <p:nvSpPr>
          <p:cNvPr id="5" name="Text 3"/>
          <p:cNvSpPr txBox="1"/>
          <p:nvPr/>
        </p:nvSpPr>
        <p:spPr>
          <a:xfrm>
            <a:off x="777240" y="2240280"/>
            <a:ext cx="1188720" cy="274320"/>
          </a:xfrm>
          <a:prstGeom prst="rect">
            <a:avLst/>
          </a:prstGeom>
          <a:noFill/>
          <a:ln/>
        </p:spPr>
        <p:txBody>
          <a:bodyPr wrap="square" lIns="0" tIns="0" rIns="0" bIns="0" rtlCol="0" anchor="ctr"/>
          <a:lstStyle/>
          <a:p>
            <a:pPr indent="0" marL="0">
              <a:buNone/>
            </a:pPr>
            <a:r>
              <a:rPr lang="en-US" sz="1050" b="1" spc="220" kern="0" dirty="0">
                <a:solidFill>
                  <a:srgbClr val="C3FC0F"/>
                </a:solidFill>
                <a:latin typeface="Arial" pitchFamily="34" charset="0"/>
                <a:ea typeface="Arial" pitchFamily="34" charset="-122"/>
                <a:cs typeface="Arial" pitchFamily="34" charset="-120"/>
              </a:rPr>
              <a:t>WEEK 1</a:t>
            </a:r>
            <a:endParaRPr lang="en-US" sz="1050" dirty="0"/>
          </a:p>
        </p:txBody>
      </p:sp>
      <p:sp>
        <p:nvSpPr>
          <p:cNvPr id="6" name="Text 4"/>
          <p:cNvSpPr txBox="1"/>
          <p:nvPr/>
        </p:nvSpPr>
        <p:spPr>
          <a:xfrm>
            <a:off x="2148840" y="2194560"/>
            <a:ext cx="5852160" cy="310896"/>
          </a:xfrm>
          <a:prstGeom prst="rect">
            <a:avLst/>
          </a:prstGeom>
          <a:noFill/>
          <a:ln/>
        </p:spPr>
        <p:txBody>
          <a:bodyPr wrap="square" lIns="0" tIns="0" rIns="0" bIns="0" rtlCol="0" anchor="ctr"/>
          <a:lstStyle/>
          <a:p>
            <a:pPr indent="0" marL="0">
              <a:buNone/>
            </a:pPr>
            <a:r>
              <a:rPr lang="en-US" sz="1500" b="1" dirty="0">
                <a:solidFill>
                  <a:srgbClr val="F9F8F4"/>
                </a:solidFill>
                <a:latin typeface="Arial" pitchFamily="34" charset="0"/>
                <a:ea typeface="Arial" pitchFamily="34" charset="-122"/>
                <a:cs typeface="Arial" pitchFamily="34" charset="-120"/>
              </a:rPr>
              <a:t>Content and confirmation</a:t>
            </a:r>
            <a:endParaRPr lang="en-US" sz="1500" dirty="0"/>
          </a:p>
        </p:txBody>
      </p:sp>
      <p:sp>
        <p:nvSpPr>
          <p:cNvPr id="7" name="Text 5"/>
          <p:cNvSpPr txBox="1"/>
          <p:nvPr/>
        </p:nvSpPr>
        <p:spPr>
          <a:xfrm>
            <a:off x="2148840" y="2514600"/>
            <a:ext cx="6949440" cy="566928"/>
          </a:xfrm>
          <a:prstGeom prst="rect">
            <a:avLst/>
          </a:prstGeom>
          <a:noFill/>
          <a:ln/>
        </p:spPr>
        <p:txBody>
          <a:bodyPr wrap="square" lIns="0" tIns="0" rIns="0" bIns="0" rtlCol="0" anchor="ctr"/>
          <a:lstStyle/>
          <a:p>
            <a:pPr indent="0" marL="0">
              <a:lnSpc>
                <a:spcPct val="118000"/>
              </a:lnSpc>
              <a:buNone/>
            </a:pPr>
            <a:r>
              <a:rPr lang="en-US" sz="1150" dirty="0">
                <a:solidFill>
                  <a:srgbClr val="A9A9A0"/>
                </a:solidFill>
                <a:latin typeface="Calibri" pitchFamily="34" charset="0"/>
                <a:ea typeface="Calibri" pitchFamily="34" charset="-122"/>
                <a:cs typeface="Calibri" pitchFamily="34" charset="-120"/>
              </a:rPr>
              <a:t>You confirm model names, real prices and specifications. One 45-minute call covers most of it.</a:t>
            </a:r>
            <a:endParaRPr lang="en-US" sz="1150" dirty="0"/>
          </a:p>
        </p:txBody>
      </p:sp>
      <p:sp>
        <p:nvSpPr>
          <p:cNvPr id="8" name="Text 6"/>
          <p:cNvSpPr txBox="1"/>
          <p:nvPr/>
        </p:nvSpPr>
        <p:spPr>
          <a:xfrm>
            <a:off x="8991295" y="2240280"/>
            <a:ext cx="2423160" cy="274320"/>
          </a:xfrm>
          <a:prstGeom prst="rect">
            <a:avLst/>
          </a:prstGeom>
          <a:noFill/>
          <a:ln/>
        </p:spPr>
        <p:txBody>
          <a:bodyPr wrap="square" lIns="0" tIns="0" rIns="0" bIns="0" rtlCol="0" anchor="ctr"/>
          <a:lstStyle/>
          <a:p>
            <a:pPr algn="r" indent="0" marL="0">
              <a:buNone/>
            </a:pPr>
            <a:r>
              <a:rPr lang="en-US" sz="1000" b="1" spc="200" kern="0" dirty="0">
                <a:solidFill>
                  <a:srgbClr val="8F8F86"/>
                </a:solidFill>
                <a:latin typeface="Arial" pitchFamily="34" charset="0"/>
                <a:ea typeface="Arial" pitchFamily="34" charset="-122"/>
                <a:cs typeface="Arial" pitchFamily="34" charset="-120"/>
              </a:rPr>
              <a:t>YOUR INPUT</a:t>
            </a:r>
            <a:endParaRPr lang="en-US" sz="1000" dirty="0"/>
          </a:p>
        </p:txBody>
      </p:sp>
      <p:sp>
        <p:nvSpPr>
          <p:cNvPr id="9" name="Shape 7"/>
          <p:cNvSpPr/>
          <p:nvPr/>
        </p:nvSpPr>
        <p:spPr>
          <a:xfrm>
            <a:off x="777240" y="3182112"/>
            <a:ext cx="10607040" cy="6401"/>
          </a:xfrm>
          <a:prstGeom prst="rect">
            <a:avLst/>
          </a:prstGeom>
          <a:solidFill>
            <a:srgbClr val="2E2E2B"/>
          </a:solidFill>
          <a:ln/>
        </p:spPr>
      </p:sp>
      <p:sp>
        <p:nvSpPr>
          <p:cNvPr id="10" name="Text 8"/>
          <p:cNvSpPr txBox="1"/>
          <p:nvPr/>
        </p:nvSpPr>
        <p:spPr>
          <a:xfrm>
            <a:off x="777240" y="3291840"/>
            <a:ext cx="1188720" cy="274320"/>
          </a:xfrm>
          <a:prstGeom prst="rect">
            <a:avLst/>
          </a:prstGeom>
          <a:noFill/>
          <a:ln/>
        </p:spPr>
        <p:txBody>
          <a:bodyPr wrap="square" lIns="0" tIns="0" rIns="0" bIns="0" rtlCol="0" anchor="ctr"/>
          <a:lstStyle/>
          <a:p>
            <a:pPr indent="0" marL="0">
              <a:buNone/>
            </a:pPr>
            <a:r>
              <a:rPr lang="en-US" sz="1050" b="1" spc="220" kern="0" dirty="0">
                <a:solidFill>
                  <a:srgbClr val="C3FC0F"/>
                </a:solidFill>
                <a:latin typeface="Arial" pitchFamily="34" charset="0"/>
                <a:ea typeface="Arial" pitchFamily="34" charset="-122"/>
                <a:cs typeface="Arial" pitchFamily="34" charset="-120"/>
              </a:rPr>
              <a:t>WEEK 2</a:t>
            </a:r>
            <a:endParaRPr lang="en-US" sz="1050" dirty="0"/>
          </a:p>
        </p:txBody>
      </p:sp>
      <p:sp>
        <p:nvSpPr>
          <p:cNvPr id="11" name="Text 9"/>
          <p:cNvSpPr txBox="1"/>
          <p:nvPr/>
        </p:nvSpPr>
        <p:spPr>
          <a:xfrm>
            <a:off x="2148840" y="3246120"/>
            <a:ext cx="5852160" cy="310896"/>
          </a:xfrm>
          <a:prstGeom prst="rect">
            <a:avLst/>
          </a:prstGeom>
          <a:noFill/>
          <a:ln/>
        </p:spPr>
        <p:txBody>
          <a:bodyPr wrap="square" lIns="0" tIns="0" rIns="0" bIns="0" rtlCol="0" anchor="ctr"/>
          <a:lstStyle/>
          <a:p>
            <a:pPr indent="0" marL="0">
              <a:buNone/>
            </a:pPr>
            <a:r>
              <a:rPr lang="en-US" sz="1500" b="1" dirty="0">
                <a:solidFill>
                  <a:srgbClr val="F9F8F4"/>
                </a:solidFill>
                <a:latin typeface="Arial" pitchFamily="34" charset="0"/>
                <a:ea typeface="Arial" pitchFamily="34" charset="-122"/>
                <a:cs typeface="Arial" pitchFamily="34" charset="-120"/>
              </a:rPr>
              <a:t>Build and revisions</a:t>
            </a:r>
            <a:endParaRPr lang="en-US" sz="1500" dirty="0"/>
          </a:p>
        </p:txBody>
      </p:sp>
      <p:sp>
        <p:nvSpPr>
          <p:cNvPr id="12" name="Text 10"/>
          <p:cNvSpPr txBox="1"/>
          <p:nvPr/>
        </p:nvSpPr>
        <p:spPr>
          <a:xfrm>
            <a:off x="2148840" y="3566160"/>
            <a:ext cx="6949440" cy="566928"/>
          </a:xfrm>
          <a:prstGeom prst="rect">
            <a:avLst/>
          </a:prstGeom>
          <a:noFill/>
          <a:ln/>
        </p:spPr>
        <p:txBody>
          <a:bodyPr wrap="square" lIns="0" tIns="0" rIns="0" bIns="0" rtlCol="0" anchor="ctr"/>
          <a:lstStyle/>
          <a:p>
            <a:pPr indent="0" marL="0">
              <a:lnSpc>
                <a:spcPct val="118000"/>
              </a:lnSpc>
              <a:buNone/>
            </a:pPr>
            <a:r>
              <a:rPr lang="en-US" sz="1150" dirty="0">
                <a:solidFill>
                  <a:srgbClr val="A9A9A0"/>
                </a:solidFill>
                <a:latin typeface="Calibri" pitchFamily="34" charset="0"/>
                <a:ea typeface="Calibri" pitchFamily="34" charset="-122"/>
                <a:cs typeface="Calibri" pitchFamily="34" charset="-120"/>
              </a:rPr>
              <a:t>Your content goes in, the guide takes your real figures, and you get a private preview link. Two rounds included.</a:t>
            </a:r>
            <a:endParaRPr lang="en-US" sz="1150" dirty="0"/>
          </a:p>
        </p:txBody>
      </p:sp>
      <p:sp>
        <p:nvSpPr>
          <p:cNvPr id="13" name="Text 11"/>
          <p:cNvSpPr txBox="1"/>
          <p:nvPr/>
        </p:nvSpPr>
        <p:spPr>
          <a:xfrm>
            <a:off x="8991295" y="3291840"/>
            <a:ext cx="2423160" cy="274320"/>
          </a:xfrm>
          <a:prstGeom prst="rect">
            <a:avLst/>
          </a:prstGeom>
          <a:noFill/>
          <a:ln/>
        </p:spPr>
        <p:txBody>
          <a:bodyPr wrap="square" lIns="0" tIns="0" rIns="0" bIns="0" rtlCol="0" anchor="ctr"/>
          <a:lstStyle/>
          <a:p>
            <a:pPr algn="r" indent="0" marL="0">
              <a:buNone/>
            </a:pPr>
            <a:r>
              <a:rPr lang="en-US" sz="1000" b="1" spc="200" kern="0" dirty="0">
                <a:solidFill>
                  <a:srgbClr val="8F8F86"/>
                </a:solidFill>
                <a:latin typeface="Arial" pitchFamily="34" charset="0"/>
                <a:ea typeface="Arial" pitchFamily="34" charset="-122"/>
                <a:cs typeface="Arial" pitchFamily="34" charset="-120"/>
              </a:rPr>
              <a:t>PREVIEW LINK</a:t>
            </a:r>
            <a:endParaRPr lang="en-US" sz="1000" dirty="0"/>
          </a:p>
        </p:txBody>
      </p:sp>
      <p:sp>
        <p:nvSpPr>
          <p:cNvPr id="14" name="Shape 12"/>
          <p:cNvSpPr/>
          <p:nvPr/>
        </p:nvSpPr>
        <p:spPr>
          <a:xfrm>
            <a:off x="777240" y="4233672"/>
            <a:ext cx="10607040" cy="6401"/>
          </a:xfrm>
          <a:prstGeom prst="rect">
            <a:avLst/>
          </a:prstGeom>
          <a:solidFill>
            <a:srgbClr val="2E2E2B"/>
          </a:solidFill>
          <a:ln/>
        </p:spPr>
      </p:sp>
      <p:sp>
        <p:nvSpPr>
          <p:cNvPr id="15" name="Text 13"/>
          <p:cNvSpPr txBox="1"/>
          <p:nvPr/>
        </p:nvSpPr>
        <p:spPr>
          <a:xfrm>
            <a:off x="777240" y="4343400"/>
            <a:ext cx="1188720" cy="274320"/>
          </a:xfrm>
          <a:prstGeom prst="rect">
            <a:avLst/>
          </a:prstGeom>
          <a:noFill/>
          <a:ln/>
        </p:spPr>
        <p:txBody>
          <a:bodyPr wrap="square" lIns="0" tIns="0" rIns="0" bIns="0" rtlCol="0" anchor="ctr"/>
          <a:lstStyle/>
          <a:p>
            <a:pPr indent="0" marL="0">
              <a:buNone/>
            </a:pPr>
            <a:r>
              <a:rPr lang="en-US" sz="1050" b="1" spc="220" kern="0" dirty="0">
                <a:solidFill>
                  <a:srgbClr val="C3FC0F"/>
                </a:solidFill>
                <a:latin typeface="Arial" pitchFamily="34" charset="0"/>
                <a:ea typeface="Arial" pitchFamily="34" charset="-122"/>
                <a:cs typeface="Arial" pitchFamily="34" charset="-120"/>
              </a:rPr>
              <a:t>WEEK 3</a:t>
            </a:r>
            <a:endParaRPr lang="en-US" sz="1050" dirty="0"/>
          </a:p>
        </p:txBody>
      </p:sp>
      <p:sp>
        <p:nvSpPr>
          <p:cNvPr id="16" name="Text 14"/>
          <p:cNvSpPr txBox="1"/>
          <p:nvPr/>
        </p:nvSpPr>
        <p:spPr>
          <a:xfrm>
            <a:off x="2148840" y="4297680"/>
            <a:ext cx="5852160" cy="310896"/>
          </a:xfrm>
          <a:prstGeom prst="rect">
            <a:avLst/>
          </a:prstGeom>
          <a:noFill/>
          <a:ln/>
        </p:spPr>
        <p:txBody>
          <a:bodyPr wrap="square" lIns="0" tIns="0" rIns="0" bIns="0" rtlCol="0" anchor="ctr"/>
          <a:lstStyle/>
          <a:p>
            <a:pPr indent="0" marL="0">
              <a:buNone/>
            </a:pPr>
            <a:r>
              <a:rPr lang="en-US" sz="1500" b="1" dirty="0">
                <a:solidFill>
                  <a:srgbClr val="F9F8F4"/>
                </a:solidFill>
                <a:latin typeface="Arial" pitchFamily="34" charset="0"/>
                <a:ea typeface="Arial" pitchFamily="34" charset="-122"/>
                <a:cs typeface="Arial" pitchFamily="34" charset="-120"/>
              </a:rPr>
              <a:t>Launch and handover</a:t>
            </a:r>
            <a:endParaRPr lang="en-US" sz="1500" dirty="0"/>
          </a:p>
        </p:txBody>
      </p:sp>
      <p:sp>
        <p:nvSpPr>
          <p:cNvPr id="17" name="Text 15"/>
          <p:cNvSpPr txBox="1"/>
          <p:nvPr/>
        </p:nvSpPr>
        <p:spPr>
          <a:xfrm>
            <a:off x="2148840" y="4617720"/>
            <a:ext cx="6949440" cy="566928"/>
          </a:xfrm>
          <a:prstGeom prst="rect">
            <a:avLst/>
          </a:prstGeom>
          <a:noFill/>
          <a:ln/>
        </p:spPr>
        <p:txBody>
          <a:bodyPr wrap="square" lIns="0" tIns="0" rIns="0" bIns="0" rtlCol="0" anchor="ctr"/>
          <a:lstStyle/>
          <a:p>
            <a:pPr indent="0" marL="0">
              <a:lnSpc>
                <a:spcPct val="118000"/>
              </a:lnSpc>
              <a:buNone/>
            </a:pPr>
            <a:r>
              <a:rPr lang="en-US" sz="1150" dirty="0">
                <a:solidFill>
                  <a:srgbClr val="A9A9A0"/>
                </a:solidFill>
                <a:latin typeface="Calibri" pitchFamily="34" charset="0"/>
                <a:ea typeface="Calibri" pitchFamily="34" charset="-122"/>
                <a:cs typeface="Calibri" pitchFamily="34" charset="-120"/>
              </a:rPr>
              <a:t>Domain connected, forms tested with a real submission, walkthrough recorded, accounts put in your name.</a:t>
            </a:r>
            <a:endParaRPr lang="en-US" sz="1150" dirty="0"/>
          </a:p>
        </p:txBody>
      </p:sp>
      <p:sp>
        <p:nvSpPr>
          <p:cNvPr id="18" name="Text 16"/>
          <p:cNvSpPr txBox="1"/>
          <p:nvPr/>
        </p:nvSpPr>
        <p:spPr>
          <a:xfrm>
            <a:off x="8991295" y="4343400"/>
            <a:ext cx="2423160" cy="274320"/>
          </a:xfrm>
          <a:prstGeom prst="rect">
            <a:avLst/>
          </a:prstGeom>
          <a:noFill/>
          <a:ln/>
        </p:spPr>
        <p:txBody>
          <a:bodyPr wrap="square" lIns="0" tIns="0" rIns="0" bIns="0" rtlCol="0" anchor="ctr"/>
          <a:lstStyle/>
          <a:p>
            <a:pPr algn="r" indent="0" marL="0">
              <a:buNone/>
            </a:pPr>
            <a:r>
              <a:rPr lang="en-US" sz="1000" b="1" spc="200" kern="0" dirty="0">
                <a:solidFill>
                  <a:srgbClr val="8F8F86"/>
                </a:solidFill>
                <a:latin typeface="Arial" pitchFamily="34" charset="0"/>
                <a:ea typeface="Arial" pitchFamily="34" charset="-122"/>
                <a:cs typeface="Arial" pitchFamily="34" charset="-120"/>
              </a:rPr>
              <a:t>LIVE SITE</a:t>
            </a:r>
            <a:endParaRPr lang="en-US" sz="1000" dirty="0"/>
          </a:p>
        </p:txBody>
      </p:sp>
      <p:sp>
        <p:nvSpPr>
          <p:cNvPr id="19" name="Shape 17"/>
          <p:cNvSpPr/>
          <p:nvPr/>
        </p:nvSpPr>
        <p:spPr>
          <a:xfrm>
            <a:off x="777240" y="5285232"/>
            <a:ext cx="10607040" cy="6401"/>
          </a:xfrm>
          <a:prstGeom prst="rect">
            <a:avLst/>
          </a:prstGeom>
          <a:solidFill>
            <a:srgbClr val="2E2E2B"/>
          </a:solidFill>
          <a:ln/>
        </p:spPr>
      </p:sp>
      <p:sp>
        <p:nvSpPr>
          <p:cNvPr id="20" name="Text 18"/>
          <p:cNvSpPr txBox="1"/>
          <p:nvPr/>
        </p:nvSpPr>
        <p:spPr>
          <a:xfrm>
            <a:off x="777240" y="5394960"/>
            <a:ext cx="1188720" cy="274320"/>
          </a:xfrm>
          <a:prstGeom prst="rect">
            <a:avLst/>
          </a:prstGeom>
          <a:noFill/>
          <a:ln/>
        </p:spPr>
        <p:txBody>
          <a:bodyPr wrap="square" lIns="0" tIns="0" rIns="0" bIns="0" rtlCol="0" anchor="ctr"/>
          <a:lstStyle/>
          <a:p>
            <a:pPr indent="0" marL="0">
              <a:buNone/>
            </a:pPr>
            <a:r>
              <a:rPr lang="en-US" sz="1050" b="1" spc="220" kern="0" dirty="0">
                <a:solidFill>
                  <a:srgbClr val="C3FC0F"/>
                </a:solidFill>
                <a:latin typeface="Arial" pitchFamily="34" charset="0"/>
                <a:ea typeface="Arial" pitchFamily="34" charset="-122"/>
                <a:cs typeface="Arial" pitchFamily="34" charset="-120"/>
              </a:rPr>
              <a:t>AFTER</a:t>
            </a:r>
            <a:endParaRPr lang="en-US" sz="1050" dirty="0"/>
          </a:p>
        </p:txBody>
      </p:sp>
      <p:sp>
        <p:nvSpPr>
          <p:cNvPr id="21" name="Text 19"/>
          <p:cNvSpPr txBox="1"/>
          <p:nvPr/>
        </p:nvSpPr>
        <p:spPr>
          <a:xfrm>
            <a:off x="2148840" y="5349240"/>
            <a:ext cx="5852160" cy="310896"/>
          </a:xfrm>
          <a:prstGeom prst="rect">
            <a:avLst/>
          </a:prstGeom>
          <a:noFill/>
          <a:ln/>
        </p:spPr>
        <p:txBody>
          <a:bodyPr wrap="square" lIns="0" tIns="0" rIns="0" bIns="0" rtlCol="0" anchor="ctr"/>
          <a:lstStyle/>
          <a:p>
            <a:pPr indent="0" marL="0">
              <a:buNone/>
            </a:pPr>
            <a:r>
              <a:rPr lang="en-US" sz="1500" b="1" dirty="0">
                <a:solidFill>
                  <a:srgbClr val="F9F8F4"/>
                </a:solidFill>
                <a:latin typeface="Arial" pitchFamily="34" charset="0"/>
                <a:ea typeface="Arial" pitchFamily="34" charset="-122"/>
                <a:cs typeface="Arial" pitchFamily="34" charset="-120"/>
              </a:rPr>
              <a:t>Two weeks of support</a:t>
            </a:r>
            <a:endParaRPr lang="en-US" sz="1500" dirty="0"/>
          </a:p>
        </p:txBody>
      </p:sp>
      <p:sp>
        <p:nvSpPr>
          <p:cNvPr id="22" name="Text 20"/>
          <p:cNvSpPr txBox="1"/>
          <p:nvPr/>
        </p:nvSpPr>
        <p:spPr>
          <a:xfrm>
            <a:off x="2148840" y="5669280"/>
            <a:ext cx="6949440" cy="566928"/>
          </a:xfrm>
          <a:prstGeom prst="rect">
            <a:avLst/>
          </a:prstGeom>
          <a:noFill/>
          <a:ln/>
        </p:spPr>
        <p:txBody>
          <a:bodyPr wrap="square" lIns="0" tIns="0" rIns="0" bIns="0" rtlCol="0" anchor="ctr"/>
          <a:lstStyle/>
          <a:p>
            <a:pPr indent="0" marL="0">
              <a:lnSpc>
                <a:spcPct val="118000"/>
              </a:lnSpc>
              <a:buNone/>
            </a:pPr>
            <a:r>
              <a:rPr lang="en-US" sz="1150" dirty="0">
                <a:solidFill>
                  <a:srgbClr val="A9A9A0"/>
                </a:solidFill>
                <a:latin typeface="Calibri" pitchFamily="34" charset="0"/>
                <a:ea typeface="Calibri" pitchFamily="34" charset="-122"/>
                <a:cs typeface="Calibri" pitchFamily="34" charset="-120"/>
              </a:rPr>
              <a:t>Anything broken or confusing, we fix it. Not a contract — just making sure what we handed you works.</a:t>
            </a:r>
            <a:endParaRPr lang="en-US" sz="1150" dirty="0"/>
          </a:p>
        </p:txBody>
      </p:sp>
      <p:sp>
        <p:nvSpPr>
          <p:cNvPr id="23" name="Text 21"/>
          <p:cNvSpPr txBox="1"/>
          <p:nvPr/>
        </p:nvSpPr>
        <p:spPr>
          <a:xfrm>
            <a:off x="8991295" y="5394960"/>
            <a:ext cx="2423160" cy="274320"/>
          </a:xfrm>
          <a:prstGeom prst="rect">
            <a:avLst/>
          </a:prstGeom>
          <a:noFill/>
          <a:ln/>
        </p:spPr>
        <p:txBody>
          <a:bodyPr wrap="square" lIns="0" tIns="0" rIns="0" bIns="0" rtlCol="0" anchor="ctr"/>
          <a:lstStyle/>
          <a:p>
            <a:pPr algn="r" indent="0" marL="0">
              <a:buNone/>
            </a:pPr>
            <a:r>
              <a:rPr lang="en-US" sz="1000" b="1" spc="200" kern="0" dirty="0">
                <a:solidFill>
                  <a:srgbClr val="8F8F86"/>
                </a:solidFill>
                <a:latin typeface="Arial" pitchFamily="34" charset="0"/>
                <a:ea typeface="Arial" pitchFamily="34" charset="-122"/>
                <a:cs typeface="Arial" pitchFamily="34" charset="-120"/>
              </a:rPr>
              <a:t>INCLUDED</a:t>
            </a:r>
            <a:endParaRPr lang="en-US" sz="1000" dirty="0"/>
          </a:p>
        </p:txBody>
      </p:sp>
      <p:sp>
        <p:nvSpPr>
          <p:cNvPr id="24" name="Text 22"/>
          <p:cNvSpPr txBox="1"/>
          <p:nvPr/>
        </p:nvSpPr>
        <p:spPr>
          <a:xfrm>
            <a:off x="777240" y="6355080"/>
            <a:ext cx="10607040" cy="365760"/>
          </a:xfrm>
          <a:prstGeom prst="rect">
            <a:avLst/>
          </a:prstGeom>
          <a:noFill/>
          <a:ln/>
        </p:spPr>
        <p:txBody>
          <a:bodyPr wrap="square" lIns="0" tIns="0" rIns="0" bIns="0" rtlCol="0" anchor="ctr"/>
          <a:lstStyle/>
          <a:p>
            <a:pPr indent="0" marL="0">
              <a:buNone/>
            </a:pPr>
            <a:r>
              <a:rPr lang="en-US" sz="1300" i="1" dirty="0">
                <a:solidFill>
                  <a:srgbClr val="C3FC0F"/>
                </a:solidFill>
                <a:latin typeface="Calibri" pitchFamily="34" charset="0"/>
                <a:ea typeface="Calibri" pitchFamily="34" charset="-122"/>
                <a:cs typeface="Calibri" pitchFamily="34" charset="-120"/>
              </a:rPr>
              <a:t>One thing only would slow this down: waiting on your confirmed prices and specifications.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8F4"/>
        </a:solidFill>
      </p:bgPr>
    </p:bg>
    <p:spTree>
      <p:nvGrpSpPr>
        <p:cNvPr id="1" name=""/>
        <p:cNvGrpSpPr/>
        <p:nvPr/>
      </p:nvGrpSpPr>
      <p:grpSpPr>
        <a:xfrm>
          <a:off x="0" y="0"/>
          <a:ext cx="0" cy="0"/>
          <a:chOff x="0" y="0"/>
          <a:chExt cx="0" cy="0"/>
        </a:xfrm>
      </p:grpSpPr>
      <p:sp>
        <p:nvSpPr>
          <p:cNvPr id="2" name="Shape 0"/>
          <p:cNvSpPr/>
          <p:nvPr/>
        </p:nvSpPr>
        <p:spPr>
          <a:xfrm>
            <a:off x="777240" y="635508"/>
            <a:ext cx="237744" cy="105156"/>
          </a:xfrm>
          <a:prstGeom prst="parallelogram">
            <a:avLst/>
          </a:prstGeom>
          <a:solidFill>
            <a:srgbClr val="C3FC0F"/>
          </a:solidFill>
          <a:ln/>
        </p:spPr>
      </p:sp>
      <p:sp>
        <p:nvSpPr>
          <p:cNvPr id="3" name="Text 1"/>
          <p:cNvSpPr txBox="1"/>
          <p:nvPr/>
        </p:nvSpPr>
        <p:spPr>
          <a:xfrm>
            <a:off x="0" y="566928"/>
            <a:ext cx="7315200" cy="256032"/>
          </a:xfrm>
          <a:prstGeom prst="rect">
            <a:avLst/>
          </a:prstGeom>
          <a:noFill/>
          <a:ln/>
        </p:spPr>
        <p:txBody>
          <a:bodyPr wrap="square" lIns="0" tIns="0" rIns="0" bIns="0" rtlCol="0" anchor="ctr"/>
          <a:lstStyle/>
          <a:p>
            <a:pPr algn="l" indent="0" marL="0">
              <a:buNone/>
            </a:pPr>
            <a:r>
              <a:rPr lang="en-US" sz="1000" b="1" spc="260" kern="0" dirty="0">
                <a:solidFill>
                  <a:srgbClr val="6B6B62"/>
                </a:solidFill>
                <a:latin typeface="Arial" pitchFamily="34" charset="0"/>
                <a:ea typeface="Arial" pitchFamily="34" charset="-122"/>
                <a:cs typeface="Arial" pitchFamily="34" charset="-120"/>
              </a:rPr>
              <a:t>INVESTMENT</a:t>
            </a:r>
            <a:endParaRPr lang="en-US" sz="1000" dirty="0"/>
          </a:p>
        </p:txBody>
      </p:sp>
      <p:sp>
        <p:nvSpPr>
          <p:cNvPr id="4" name="Text 2"/>
          <p:cNvSpPr txBox="1"/>
          <p:nvPr/>
        </p:nvSpPr>
        <p:spPr>
          <a:xfrm>
            <a:off x="777240" y="1005840"/>
            <a:ext cx="10058400" cy="640080"/>
          </a:xfrm>
          <a:prstGeom prst="rect">
            <a:avLst/>
          </a:prstGeom>
          <a:noFill/>
          <a:ln/>
        </p:spPr>
        <p:txBody>
          <a:bodyPr wrap="square" lIns="0" tIns="0" rIns="0" bIns="0" rtlCol="0" anchor="ctr"/>
          <a:lstStyle/>
          <a:p>
            <a:pPr indent="0" marL="0">
              <a:buNone/>
            </a:pPr>
            <a:r>
              <a:rPr lang="en-US" sz="3400" b="1" spc="-40" kern="0" dirty="0">
                <a:solidFill>
                  <a:srgbClr val="131313"/>
                </a:solidFill>
                <a:latin typeface="Arial" pitchFamily="34" charset="0"/>
                <a:ea typeface="Arial" pitchFamily="34" charset="-122"/>
                <a:cs typeface="Arial" pitchFamily="34" charset="-120"/>
              </a:rPr>
              <a:t>ONE PRICE. NO SURPRISES.</a:t>
            </a:r>
            <a:endParaRPr lang="en-US" sz="3400" dirty="0"/>
          </a:p>
        </p:txBody>
      </p:sp>
      <p:sp>
        <p:nvSpPr>
          <p:cNvPr id="5" name="Shape 3"/>
          <p:cNvSpPr/>
          <p:nvPr/>
        </p:nvSpPr>
        <p:spPr>
          <a:xfrm>
            <a:off x="777240" y="1965960"/>
            <a:ext cx="5943600" cy="3566160"/>
          </a:xfrm>
          <a:prstGeom prst="rect">
            <a:avLst/>
          </a:prstGeom>
          <a:solidFill>
            <a:srgbClr val="131313"/>
          </a:solidFill>
          <a:ln/>
        </p:spPr>
      </p:sp>
      <p:sp>
        <p:nvSpPr>
          <p:cNvPr id="6" name="Text 4"/>
          <p:cNvSpPr txBox="1"/>
          <p:nvPr/>
        </p:nvSpPr>
        <p:spPr>
          <a:xfrm>
            <a:off x="1143000" y="2286000"/>
            <a:ext cx="5212080" cy="274320"/>
          </a:xfrm>
          <a:prstGeom prst="rect">
            <a:avLst/>
          </a:prstGeom>
          <a:noFill/>
          <a:ln/>
        </p:spPr>
        <p:txBody>
          <a:bodyPr wrap="square" lIns="0" tIns="0" rIns="0" bIns="0" rtlCol="0" anchor="ctr"/>
          <a:lstStyle/>
          <a:p>
            <a:pPr indent="0" marL="0">
              <a:buNone/>
            </a:pPr>
            <a:r>
              <a:rPr lang="en-US" sz="1050" b="1" spc="240" kern="0" dirty="0">
                <a:solidFill>
                  <a:srgbClr val="8F8F86"/>
                </a:solidFill>
                <a:latin typeface="Arial" pitchFamily="34" charset="0"/>
                <a:ea typeface="Arial" pitchFamily="34" charset="-122"/>
                <a:cs typeface="Arial" pitchFamily="34" charset="-120"/>
              </a:rPr>
              <a:t>TOTAL — FIXED</a:t>
            </a:r>
            <a:endParaRPr lang="en-US" sz="1050" dirty="0"/>
          </a:p>
        </p:txBody>
      </p:sp>
      <p:sp>
        <p:nvSpPr>
          <p:cNvPr id="7" name="Text 5"/>
          <p:cNvSpPr txBox="1"/>
          <p:nvPr/>
        </p:nvSpPr>
        <p:spPr>
          <a:xfrm>
            <a:off x="1143000" y="2651760"/>
            <a:ext cx="5212080" cy="1005840"/>
          </a:xfrm>
          <a:prstGeom prst="rect">
            <a:avLst/>
          </a:prstGeom>
          <a:noFill/>
          <a:ln/>
        </p:spPr>
        <p:txBody>
          <a:bodyPr wrap="square" lIns="0" tIns="0" rIns="0" bIns="0" rtlCol="0" anchor="ctr"/>
          <a:lstStyle/>
          <a:p>
            <a:pPr indent="0" marL="0">
              <a:buNone/>
            </a:pPr>
            <a:r>
              <a:rPr lang="en-US" sz="5200" b="1" spc="-160" kern="0" dirty="0">
                <a:solidFill>
                  <a:srgbClr val="C3FC0F"/>
                </a:solidFill>
                <a:latin typeface="Arial" pitchFamily="34" charset="0"/>
                <a:ea typeface="Arial" pitchFamily="34" charset="-122"/>
                <a:cs typeface="Arial" pitchFamily="34" charset="-120"/>
              </a:rPr>
              <a:t>J$100,000</a:t>
            </a:r>
            <a:endParaRPr lang="en-US" sz="5200" dirty="0"/>
          </a:p>
        </p:txBody>
      </p:sp>
      <p:sp>
        <p:nvSpPr>
          <p:cNvPr id="8" name="Text 6"/>
          <p:cNvSpPr txBox="1"/>
          <p:nvPr/>
        </p:nvSpPr>
        <p:spPr>
          <a:xfrm>
            <a:off x="1143000" y="3703320"/>
            <a:ext cx="5212080" cy="1005840"/>
          </a:xfrm>
          <a:prstGeom prst="rect">
            <a:avLst/>
          </a:prstGeom>
          <a:noFill/>
          <a:ln/>
        </p:spPr>
        <p:txBody>
          <a:bodyPr wrap="square" lIns="0" tIns="0" rIns="0" bIns="0" rtlCol="0" anchor="ctr"/>
          <a:lstStyle/>
          <a:p>
            <a:pPr indent="0" marL="0">
              <a:lnSpc>
                <a:spcPct val="120000"/>
              </a:lnSpc>
              <a:buNone/>
            </a:pPr>
            <a:r>
              <a:rPr lang="en-US" sz="1200" dirty="0">
                <a:solidFill>
                  <a:srgbClr val="A9A9A0"/>
                </a:solidFill>
                <a:latin typeface="Calibri" pitchFamily="34" charset="0"/>
                <a:ea typeface="Calibri" pitchFamily="34" charset="-122"/>
                <a:cs typeface="Calibri" pitchFamily="34" charset="-120"/>
              </a:rPr>
              <a:t>Founding-client rate. In exchange we ask for a short testimonial once the site is live, permission to feature the work, and an introduction to one other business you rate.</a:t>
            </a:r>
            <a:endParaRPr lang="en-US" sz="1200" dirty="0"/>
          </a:p>
        </p:txBody>
      </p:sp>
      <p:sp>
        <p:nvSpPr>
          <p:cNvPr id="9" name="Shape 7"/>
          <p:cNvSpPr/>
          <p:nvPr/>
        </p:nvSpPr>
        <p:spPr>
          <a:xfrm>
            <a:off x="1143000" y="4754880"/>
            <a:ext cx="5212080" cy="6401"/>
          </a:xfrm>
          <a:prstGeom prst="rect">
            <a:avLst/>
          </a:prstGeom>
          <a:solidFill>
            <a:srgbClr val="2E2E2B"/>
          </a:solidFill>
          <a:ln/>
        </p:spPr>
      </p:sp>
      <p:sp>
        <p:nvSpPr>
          <p:cNvPr id="10" name="Text 8"/>
          <p:cNvSpPr txBox="1"/>
          <p:nvPr/>
        </p:nvSpPr>
        <p:spPr>
          <a:xfrm>
            <a:off x="1143000" y="4919472"/>
            <a:ext cx="5212080" cy="329184"/>
          </a:xfrm>
          <a:prstGeom prst="rect">
            <a:avLst/>
          </a:prstGeom>
          <a:noFill/>
          <a:ln/>
        </p:spPr>
        <p:txBody>
          <a:bodyPr wrap="square" lIns="0" tIns="0" rIns="0" bIns="0" rtlCol="0" anchor="ctr"/>
          <a:lstStyle/>
          <a:p>
            <a:pPr indent="0" marL="0">
              <a:buNone/>
            </a:pPr>
            <a:r>
              <a:rPr lang="en-US" sz="1200" b="1" dirty="0">
                <a:solidFill>
                  <a:srgbClr val="F9F8F4"/>
                </a:solidFill>
                <a:latin typeface="Arial" pitchFamily="34" charset="0"/>
                <a:ea typeface="Arial" pitchFamily="34" charset="-122"/>
                <a:cs typeface="Arial" pitchFamily="34" charset="-120"/>
              </a:rPr>
              <a:t>J$50,000 on acceptance   ·   J$50,000 on launch</a:t>
            </a:r>
            <a:endParaRPr lang="en-US" sz="1200" dirty="0"/>
          </a:p>
        </p:txBody>
      </p:sp>
      <p:sp>
        <p:nvSpPr>
          <p:cNvPr id="11" name="Text 9"/>
          <p:cNvSpPr txBox="1"/>
          <p:nvPr/>
        </p:nvSpPr>
        <p:spPr>
          <a:xfrm>
            <a:off x="7223760" y="2286000"/>
            <a:ext cx="4206240" cy="274320"/>
          </a:xfrm>
          <a:prstGeom prst="rect">
            <a:avLst/>
          </a:prstGeom>
          <a:noFill/>
          <a:ln/>
        </p:spPr>
        <p:txBody>
          <a:bodyPr wrap="square" lIns="0" tIns="0" rIns="0" bIns="0" rtlCol="0" anchor="ctr"/>
          <a:lstStyle/>
          <a:p>
            <a:pPr indent="0" marL="0">
              <a:buNone/>
            </a:pPr>
            <a:r>
              <a:rPr lang="en-US" sz="1050" b="1" spc="240" kern="0" dirty="0">
                <a:solidFill>
                  <a:srgbClr val="6B6B62"/>
                </a:solidFill>
                <a:latin typeface="Arial" pitchFamily="34" charset="0"/>
                <a:ea typeface="Arial" pitchFamily="34" charset="-122"/>
                <a:cs typeface="Arial" pitchFamily="34" charset="-120"/>
              </a:rPr>
              <a:t>WHAT IS INCLUDED</a:t>
            </a:r>
            <a:endParaRPr lang="en-US" sz="1050" dirty="0"/>
          </a:p>
        </p:txBody>
      </p:sp>
      <p:sp>
        <p:nvSpPr>
          <p:cNvPr id="12" name="Text 10"/>
          <p:cNvSpPr txBox="1"/>
          <p:nvPr/>
        </p:nvSpPr>
        <p:spPr>
          <a:xfrm>
            <a:off x="7223760" y="2697480"/>
            <a:ext cx="4206240" cy="2103120"/>
          </a:xfrm>
          <a:prstGeom prst="rect">
            <a:avLst/>
          </a:prstGeom>
          <a:noFill/>
          <a:ln/>
        </p:spPr>
        <p:txBody>
          <a:bodyPr wrap="square" lIns="0" tIns="0" rIns="0" bIns="0" rtlCol="0" anchor="ctr"/>
          <a:lstStyle/>
          <a:p>
            <a:pPr marL="342900" indent="-342900">
              <a:lnSpc>
                <a:spcPct val="115000"/>
              </a:lnSpc>
              <a:spcAft>
                <a:spcPts val="900"/>
              </a:spcAft>
              <a:buSzPct val="100000"/>
              <a:buChar char="•"/>
            </a:pPr>
            <a:r>
              <a:rPr lang="en-US" sz="1250" dirty="0">
                <a:solidFill>
                  <a:srgbClr val="131313"/>
                </a:solidFill>
                <a:latin typeface="Calibri" pitchFamily="34" charset="0"/>
                <a:ea typeface="Calibri" pitchFamily="34" charset="-122"/>
                <a:cs typeface="Calibri" pitchFamily="34" charset="-120"/>
              </a:rPr>
              <a:t>Website — designed, built, deployed</a:t>
            </a:r>
            <a:endParaRPr lang="en-US" sz="1250" dirty="0"/>
          </a:p>
          <a:p>
            <a:pPr marL="342900" indent="-342900">
              <a:lnSpc>
                <a:spcPct val="115000"/>
              </a:lnSpc>
              <a:spcAft>
                <a:spcPts val="900"/>
              </a:spcAft>
              <a:buSzPct val="100000"/>
              <a:buChar char="•"/>
            </a:pPr>
            <a:r>
              <a:rPr lang="en-US" sz="1250" dirty="0">
                <a:solidFill>
                  <a:srgbClr val="131313"/>
                </a:solidFill>
                <a:latin typeface="Calibri" pitchFamily="34" charset="0"/>
                <a:ea typeface="Calibri" pitchFamily="34" charset="-122"/>
                <a:cs typeface="Calibri" pitchFamily="34" charset="-120"/>
              </a:rPr>
              <a:t>Buyer’s guide — written, designed, produced</a:t>
            </a:r>
            <a:endParaRPr lang="en-US" sz="1250" dirty="0"/>
          </a:p>
          <a:p>
            <a:pPr marL="342900" indent="-342900">
              <a:lnSpc>
                <a:spcPct val="115000"/>
              </a:lnSpc>
              <a:spcAft>
                <a:spcPts val="900"/>
              </a:spcAft>
              <a:buSzPct val="100000"/>
              <a:buChar char="•"/>
            </a:pPr>
            <a:r>
              <a:rPr lang="en-US" sz="1250" dirty="0">
                <a:solidFill>
                  <a:srgbClr val="131313"/>
                </a:solidFill>
                <a:latin typeface="Calibri" pitchFamily="34" charset="0"/>
                <a:ea typeface="Calibri" pitchFamily="34" charset="-122"/>
                <a:cs typeface="Calibri" pitchFamily="34" charset="-120"/>
              </a:rPr>
              <a:t>Lead capture and automated delivery</a:t>
            </a:r>
            <a:endParaRPr lang="en-US" sz="1250" dirty="0"/>
          </a:p>
          <a:p>
            <a:pPr marL="342900" indent="-342900">
              <a:lnSpc>
                <a:spcPct val="115000"/>
              </a:lnSpc>
              <a:spcAft>
                <a:spcPts val="900"/>
              </a:spcAft>
              <a:buSzPct val="100000"/>
              <a:buChar char="•"/>
            </a:pPr>
            <a:r>
              <a:rPr lang="en-US" sz="1250" dirty="0">
                <a:solidFill>
                  <a:srgbClr val="131313"/>
                </a:solidFill>
                <a:latin typeface="Calibri" pitchFamily="34" charset="0"/>
                <a:ea typeface="Calibri" pitchFamily="34" charset="-122"/>
                <a:cs typeface="Calibri" pitchFamily="34" charset="-120"/>
              </a:rPr>
              <a:t>Hosting setup, domain and SSL</a:t>
            </a:r>
            <a:endParaRPr lang="en-US" sz="1250" dirty="0"/>
          </a:p>
          <a:p>
            <a:pPr marL="342900" indent="-342900">
              <a:lnSpc>
                <a:spcPct val="115000"/>
              </a:lnSpc>
              <a:spcAft>
                <a:spcPts val="900"/>
              </a:spcAft>
              <a:buSzPct val="100000"/>
              <a:buChar char="•"/>
            </a:pPr>
            <a:r>
              <a:rPr lang="en-US" sz="1250" dirty="0">
                <a:solidFill>
                  <a:srgbClr val="131313"/>
                </a:solidFill>
                <a:latin typeface="Calibri" pitchFamily="34" charset="0"/>
                <a:ea typeface="Calibri" pitchFamily="34" charset="-122"/>
                <a:cs typeface="Calibri" pitchFamily="34" charset="-120"/>
              </a:rPr>
              <a:t>Handover, documentation and training</a:t>
            </a:r>
            <a:endParaRPr lang="en-US" sz="1250" dirty="0"/>
          </a:p>
          <a:p>
            <a:pPr marL="342900" indent="-342900">
              <a:lnSpc>
                <a:spcPct val="115000"/>
              </a:lnSpc>
              <a:spcAft>
                <a:spcPts val="900"/>
              </a:spcAft>
              <a:buSzPct val="100000"/>
              <a:buChar char="•"/>
            </a:pPr>
            <a:r>
              <a:rPr lang="en-US" sz="1250" dirty="0">
                <a:solidFill>
                  <a:srgbClr val="131313"/>
                </a:solidFill>
                <a:latin typeface="Calibri" pitchFamily="34" charset="0"/>
                <a:ea typeface="Calibri" pitchFamily="34" charset="-122"/>
                <a:cs typeface="Calibri" pitchFamily="34" charset="-120"/>
              </a:rPr>
              <a:t>Two weeks of post-launch support</a:t>
            </a:r>
            <a:endParaRPr lang="en-US" sz="1250" dirty="0"/>
          </a:p>
        </p:txBody>
      </p:sp>
      <p:sp>
        <p:nvSpPr>
          <p:cNvPr id="13" name="Text 11"/>
          <p:cNvSpPr txBox="1"/>
          <p:nvPr/>
        </p:nvSpPr>
        <p:spPr>
          <a:xfrm>
            <a:off x="7223760" y="4892040"/>
            <a:ext cx="4206240" cy="822960"/>
          </a:xfrm>
          <a:prstGeom prst="rect">
            <a:avLst/>
          </a:prstGeom>
          <a:noFill/>
          <a:ln/>
        </p:spPr>
        <p:txBody>
          <a:bodyPr wrap="square" lIns="0" tIns="0" rIns="0" bIns="0" rtlCol="0" anchor="ctr"/>
          <a:lstStyle/>
          <a:p>
            <a:pPr indent="0" marL="0">
              <a:lnSpc>
                <a:spcPct val="120000"/>
              </a:lnSpc>
              <a:buNone/>
            </a:pPr>
            <a:r>
              <a:rPr lang="en-US" sz="1150" i="1" dirty="0">
                <a:solidFill>
                  <a:srgbClr val="6B6B62"/>
                </a:solidFill>
                <a:latin typeface="Calibri" pitchFamily="34" charset="0"/>
                <a:ea typeface="Calibri" pitchFamily="34" charset="-122"/>
                <a:cs typeface="Calibri" pitchFamily="34" charset="-120"/>
              </a:rPr>
              <a:t>You own everything on final payment — site, guide, domain, files. No lock-in and no monthly fee required to keep it running.</a:t>
            </a:r>
            <a:endParaRPr lang="en-US" sz="1150" dirty="0"/>
          </a:p>
        </p:txBody>
      </p:sp>
      <p:sp>
        <p:nvSpPr>
          <p:cNvPr id="14" name="Text 12"/>
          <p:cNvSpPr txBox="1"/>
          <p:nvPr/>
        </p:nvSpPr>
        <p:spPr>
          <a:xfrm>
            <a:off x="777240" y="6236208"/>
            <a:ext cx="5486400" cy="274320"/>
          </a:xfrm>
          <a:prstGeom prst="rect">
            <a:avLst/>
          </a:prstGeom>
          <a:noFill/>
          <a:ln/>
        </p:spPr>
        <p:txBody>
          <a:bodyPr wrap="square" lIns="0" tIns="0" rIns="0" bIns="0" rtlCol="0" anchor="ctr"/>
          <a:lstStyle/>
          <a:p>
            <a:pPr indent="0" marL="0">
              <a:buNone/>
            </a:pPr>
            <a:r>
              <a:rPr lang="en-US" sz="900" b="1" spc="220" kern="0" dirty="0">
                <a:solidFill>
                  <a:srgbClr val="6B6B62"/>
                </a:solidFill>
                <a:latin typeface="Arial" pitchFamily="34" charset="0"/>
                <a:ea typeface="Arial" pitchFamily="34" charset="-122"/>
                <a:cs typeface="Arial" pitchFamily="34" charset="-120"/>
              </a:rPr>
              <a:t>INVESTMENT</a:t>
            </a:r>
            <a:endParaRPr lang="en-US" sz="900" dirty="0"/>
          </a:p>
        </p:txBody>
      </p:sp>
      <p:sp>
        <p:nvSpPr>
          <p:cNvPr id="15" name="Text 13"/>
          <p:cNvSpPr txBox="1"/>
          <p:nvPr/>
        </p:nvSpPr>
        <p:spPr>
          <a:xfrm>
            <a:off x="8214055" y="6236208"/>
            <a:ext cx="3200400" cy="274320"/>
          </a:xfrm>
          <a:prstGeom prst="rect">
            <a:avLst/>
          </a:prstGeom>
          <a:noFill/>
          <a:ln/>
        </p:spPr>
        <p:txBody>
          <a:bodyPr wrap="square" lIns="0" tIns="0" rIns="0" bIns="0" rtlCol="0" anchor="ctr"/>
          <a:lstStyle/>
          <a:p>
            <a:pPr algn="r" indent="0" marL="0">
              <a:buNone/>
            </a:pPr>
            <a:r>
              <a:rPr lang="en-US" sz="900" b="1" spc="220" kern="0" dirty="0">
                <a:solidFill>
                  <a:srgbClr val="6B6B62"/>
                </a:solidFill>
                <a:latin typeface="Arial" pitchFamily="34" charset="0"/>
                <a:ea typeface="Arial" pitchFamily="34" charset="-122"/>
                <a:cs typeface="Arial" pitchFamily="34" charset="-120"/>
              </a:rPr>
              <a:t>YARDSCALE DIGITAL</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1313"/>
        </a:solidFill>
      </p:bgPr>
    </p:bg>
    <p:spTree>
      <p:nvGrpSpPr>
        <p:cNvPr id="1" name=""/>
        <p:cNvGrpSpPr/>
        <p:nvPr/>
      </p:nvGrpSpPr>
      <p:grpSpPr>
        <a:xfrm>
          <a:off x="0" y="0"/>
          <a:ext cx="0" cy="0"/>
          <a:chOff x="0" y="0"/>
          <a:chExt cx="0" cy="0"/>
        </a:xfrm>
      </p:grpSpPr>
      <p:pic>
        <p:nvPicPr>
          <p:cNvPr id="2" name="Image 0" descr="/home/user/YardScale-Digital/clients/design-container-ja/deck-assets/deck-magnet.png">    </p:cNvPr>
          <p:cNvPicPr>
            <a:picLocks noChangeAspect="1"/>
          </p:cNvPicPr>
          <p:nvPr/>
        </p:nvPicPr>
        <p:blipFill>
          <a:blip r:embed="rId1"/>
          <a:stretch>
            <a:fillRect/>
          </a:stretch>
        </p:blipFill>
        <p:spPr>
          <a:xfrm>
            <a:off x="6035040" y="0"/>
            <a:ext cx="6156655" cy="4462272"/>
          </a:xfrm>
          <a:prstGeom prst="rect">
            <a:avLst/>
          </a:prstGeom>
        </p:spPr>
      </p:pic>
      <p:sp>
        <p:nvSpPr>
          <p:cNvPr id="3" name="Shape 0"/>
          <p:cNvSpPr/>
          <p:nvPr/>
        </p:nvSpPr>
        <p:spPr>
          <a:xfrm>
            <a:off x="6035040" y="0"/>
            <a:ext cx="6156655" cy="4462272"/>
          </a:xfrm>
          <a:prstGeom prst="rect">
            <a:avLst/>
          </a:prstGeom>
          <a:solidFill>
            <a:srgbClr val="131313">
              <a:alpha val="42000"/>
            </a:srgbClr>
          </a:solidFill>
          <a:ln/>
        </p:spPr>
      </p:sp>
      <p:sp>
        <p:nvSpPr>
          <p:cNvPr id="4" name="Shape 1"/>
          <p:cNvSpPr/>
          <p:nvPr/>
        </p:nvSpPr>
        <p:spPr>
          <a:xfrm>
            <a:off x="777240" y="635508"/>
            <a:ext cx="237744" cy="105156"/>
          </a:xfrm>
          <a:prstGeom prst="parallelogram">
            <a:avLst/>
          </a:prstGeom>
          <a:solidFill>
            <a:srgbClr val="C3FC0F"/>
          </a:solidFill>
          <a:ln/>
        </p:spPr>
      </p:sp>
      <p:sp>
        <p:nvSpPr>
          <p:cNvPr id="5" name="Text 2"/>
          <p:cNvSpPr txBox="1"/>
          <p:nvPr/>
        </p:nvSpPr>
        <p:spPr>
          <a:xfrm>
            <a:off x="1161288" y="566928"/>
            <a:ext cx="7315200" cy="256032"/>
          </a:xfrm>
          <a:prstGeom prst="rect">
            <a:avLst/>
          </a:prstGeom>
          <a:noFill/>
          <a:ln/>
        </p:spPr>
        <p:txBody>
          <a:bodyPr wrap="square" lIns="0" tIns="0" rIns="0" bIns="0" rtlCol="0" anchor="ctr"/>
          <a:lstStyle/>
          <a:p>
            <a:pPr algn="l" indent="0" marL="0">
              <a:buNone/>
            </a:pPr>
            <a:r>
              <a:rPr lang="en-US" sz="1000" b="1" spc="260" kern="0" dirty="0">
                <a:solidFill>
                  <a:srgbClr val="8F8F86"/>
                </a:solidFill>
                <a:latin typeface="Arial" pitchFamily="34" charset="0"/>
                <a:ea typeface="Arial" pitchFamily="34" charset="-122"/>
                <a:cs typeface="Arial" pitchFamily="34" charset="-120"/>
              </a:rPr>
              <a:t>NEXT STEP</a:t>
            </a:r>
            <a:endParaRPr lang="en-US" sz="1000" dirty="0"/>
          </a:p>
        </p:txBody>
      </p:sp>
      <p:sp>
        <p:nvSpPr>
          <p:cNvPr id="6" name="Text 3"/>
          <p:cNvSpPr txBox="1"/>
          <p:nvPr/>
        </p:nvSpPr>
        <p:spPr>
          <a:xfrm>
            <a:off x="777240" y="1371600"/>
            <a:ext cx="5669280" cy="2286000"/>
          </a:xfrm>
          <a:prstGeom prst="rect">
            <a:avLst/>
          </a:prstGeom>
          <a:noFill/>
          <a:ln/>
        </p:spPr>
        <p:txBody>
          <a:bodyPr wrap="square" lIns="0" tIns="0" rIns="0" bIns="0" rtlCol="0" anchor="ctr"/>
          <a:lstStyle/>
          <a:p>
            <a:pPr indent="0" marL="0">
              <a:lnSpc>
                <a:spcPct val="94000"/>
              </a:lnSpc>
              <a:buNone/>
            </a:pPr>
            <a:r>
              <a:rPr lang="en-US" sz="4000" b="1" spc="-60" kern="0" dirty="0">
                <a:solidFill>
                  <a:srgbClr val="F9F8F4"/>
                </a:solidFill>
                <a:latin typeface="Arial" pitchFamily="34" charset="0"/>
                <a:ea typeface="Arial" pitchFamily="34" charset="-122"/>
                <a:cs typeface="Arial" pitchFamily="34" charset="-120"/>
              </a:rPr>
              <a:t>LOOK AT IT
BEFORE YOU
</a:t>
            </a:r>
            <a:pPr indent="0" marL="0">
              <a:lnSpc>
                <a:spcPct val="94000"/>
              </a:lnSpc>
              <a:buNone/>
            </a:pPr>
            <a:r>
              <a:rPr lang="en-US" sz="4000" b="1" spc="-60" kern="0" dirty="0">
                <a:solidFill>
                  <a:srgbClr val="C3FC0F"/>
                </a:solidFill>
                <a:latin typeface="Arial" pitchFamily="34" charset="0"/>
                <a:ea typeface="Arial" pitchFamily="34" charset="-122"/>
                <a:cs typeface="Arial" pitchFamily="34" charset="-120"/>
              </a:rPr>
              <a:t>DECIDE.</a:t>
            </a:r>
            <a:endParaRPr lang="en-US" sz="4000" dirty="0"/>
          </a:p>
        </p:txBody>
      </p:sp>
      <p:sp>
        <p:nvSpPr>
          <p:cNvPr id="7" name="Text 4"/>
          <p:cNvSpPr txBox="1"/>
          <p:nvPr/>
        </p:nvSpPr>
        <p:spPr>
          <a:xfrm>
            <a:off x="777240" y="3931920"/>
            <a:ext cx="5394960" cy="1280160"/>
          </a:xfrm>
          <a:prstGeom prst="rect">
            <a:avLst/>
          </a:prstGeom>
          <a:noFill/>
          <a:ln/>
        </p:spPr>
        <p:txBody>
          <a:bodyPr wrap="square" lIns="0" tIns="0" rIns="0" bIns="0" rtlCol="0" anchor="ctr"/>
          <a:lstStyle/>
          <a:p>
            <a:pPr indent="0" marL="0">
              <a:lnSpc>
                <a:spcPct val="125000"/>
              </a:lnSpc>
              <a:buNone/>
            </a:pPr>
            <a:r>
              <a:rPr lang="en-US" sz="1400" dirty="0">
                <a:solidFill>
                  <a:srgbClr val="B6B6AD"/>
                </a:solidFill>
                <a:latin typeface="Calibri" pitchFamily="34" charset="0"/>
                <a:ea typeface="Calibri" pitchFamily="34" charset="-122"/>
                <a:cs typeface="Calibri" pitchFamily="34" charset="-120"/>
              </a:rPr>
              <a:t>The site and the guide already exist. Open the preview, read the guide the way one of your buyers would, and tell me what is wrong with it. If it is right, say the word and we start on your content this week.</a:t>
            </a:r>
            <a:endParaRPr lang="en-US" sz="1400" dirty="0"/>
          </a:p>
        </p:txBody>
      </p:sp>
      <p:sp>
        <p:nvSpPr>
          <p:cNvPr id="8" name="Shape 5"/>
          <p:cNvSpPr/>
          <p:nvPr/>
        </p:nvSpPr>
        <p:spPr>
          <a:xfrm>
            <a:off x="777240" y="5349240"/>
            <a:ext cx="5394960" cy="822960"/>
          </a:xfrm>
          <a:prstGeom prst="rect">
            <a:avLst/>
          </a:prstGeom>
          <a:solidFill>
            <a:srgbClr val="C3FC0F"/>
          </a:solidFill>
          <a:ln/>
        </p:spPr>
      </p:sp>
      <p:sp>
        <p:nvSpPr>
          <p:cNvPr id="9" name="Text 6"/>
          <p:cNvSpPr txBox="1"/>
          <p:nvPr/>
        </p:nvSpPr>
        <p:spPr>
          <a:xfrm>
            <a:off x="777240" y="5349240"/>
            <a:ext cx="5394960" cy="822960"/>
          </a:xfrm>
          <a:prstGeom prst="rect">
            <a:avLst/>
          </a:prstGeom>
          <a:noFill/>
          <a:ln/>
        </p:spPr>
        <p:txBody>
          <a:bodyPr wrap="square" lIns="0" tIns="0" rIns="0" bIns="0" rtlCol="0" anchor="ctr"/>
          <a:lstStyle/>
          <a:p>
            <a:pPr algn="ctr" indent="0" marL="0">
              <a:buNone/>
            </a:pPr>
            <a:r>
              <a:rPr lang="en-US" sz="1500" b="1" spc="160" kern="0" dirty="0">
                <a:solidFill>
                  <a:srgbClr val="131313"/>
                </a:solidFill>
                <a:latin typeface="Arial" pitchFamily="34" charset="0"/>
                <a:ea typeface="Arial" pitchFamily="34" charset="-122"/>
                <a:cs typeface="Arial" pitchFamily="34" charset="-120"/>
              </a:rPr>
              <a:t>SEE THE LIVE PREVIEW  →</a:t>
            </a:r>
            <a:endParaRPr lang="en-US" sz="1500" dirty="0"/>
          </a:p>
        </p:txBody>
      </p:sp>
      <p:sp>
        <p:nvSpPr>
          <p:cNvPr id="10" name="Text 7"/>
          <p:cNvSpPr txBox="1"/>
          <p:nvPr/>
        </p:nvSpPr>
        <p:spPr>
          <a:xfrm>
            <a:off x="6949440" y="5577840"/>
            <a:ext cx="4480560" cy="365760"/>
          </a:xfrm>
          <a:prstGeom prst="rect">
            <a:avLst/>
          </a:prstGeom>
          <a:noFill/>
          <a:ln/>
        </p:spPr>
        <p:txBody>
          <a:bodyPr wrap="square" lIns="0" tIns="0" rIns="0" bIns="0" rtlCol="0" anchor="ctr"/>
          <a:lstStyle/>
          <a:p>
            <a:pPr algn="r" indent="0" marL="0">
              <a:buNone/>
            </a:pPr>
            <a:r>
              <a:rPr lang="en-US" sz="1250" dirty="0">
                <a:solidFill>
                  <a:srgbClr val="8F8F86"/>
                </a:solidFill>
                <a:latin typeface="Calibri" pitchFamily="34" charset="0"/>
                <a:ea typeface="Calibri" pitchFamily="34" charset="-122"/>
                <a:cs typeface="Calibri" pitchFamily="34" charset="-120"/>
              </a:rPr>
              <a:t>yardscaledigital@gmail.com</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YardScale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Container JA — website &amp; lead system</dc:title>
  <dc:subject>PptxGenJS Presentation</dc:subject>
  <dc:creator>YardScale Digital</dc:creator>
  <cp:lastModifiedBy>YardScale Digital</cp:lastModifiedBy>
  <cp:revision>1</cp:revision>
  <dcterms:created xsi:type="dcterms:W3CDTF">2026-08-29T12:22:01Z</dcterms:created>
  <dcterms:modified xsi:type="dcterms:W3CDTF">2026-08-29T12:22:01Z</dcterms:modified>
</cp:coreProperties>
</file>